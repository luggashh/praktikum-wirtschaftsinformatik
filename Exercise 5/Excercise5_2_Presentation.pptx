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4"/>
  </p:notesMasterIdLst>
  <p:sldIdLst>
    <p:sldId id="257" r:id="rId2"/>
    <p:sldId id="333" r:id="rId3"/>
    <p:sldId id="328" r:id="rId4"/>
    <p:sldId id="344" r:id="rId5"/>
    <p:sldId id="345" r:id="rId6"/>
    <p:sldId id="346" r:id="rId7"/>
    <p:sldId id="342" r:id="rId8"/>
    <p:sldId id="343" r:id="rId9"/>
    <p:sldId id="341" r:id="rId10"/>
    <p:sldId id="334" r:id="rId11"/>
    <p:sldId id="330" r:id="rId12"/>
    <p:sldId id="335" r:id="rId13"/>
    <p:sldId id="337" r:id="rId14"/>
    <p:sldId id="338" r:id="rId15"/>
    <p:sldId id="340" r:id="rId16"/>
    <p:sldId id="347" r:id="rId17"/>
    <p:sldId id="348" r:id="rId18"/>
    <p:sldId id="350" r:id="rId19"/>
    <p:sldId id="349" r:id="rId20"/>
    <p:sldId id="351" r:id="rId21"/>
    <p:sldId id="352" r:id="rId22"/>
    <p:sldId id="353" r:id="rId23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>
          <p15:clr>
            <a:srgbClr val="A4A3A4"/>
          </p15:clr>
        </p15:guide>
        <p15:guide id="2" pos="7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5616"/>
  </p:normalViewPr>
  <p:slideViewPr>
    <p:cSldViewPr showGuides="1">
      <p:cViewPr varScale="1">
        <p:scale>
          <a:sx n="79" d="100"/>
          <a:sy n="79" d="100"/>
        </p:scale>
        <p:origin x="1282" y="77"/>
      </p:cViewPr>
      <p:guideLst>
        <p:guide orient="horz" pos="2523"/>
        <p:guide pos="7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0:04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0 693 24575,'15'27'0,"0"5"0,-1-6 0,2 10 0,4 0 0,-5-2 0,10 7 0,-13-9 0,8 9 0,-5-7 0,-4 2 0,3-5 0,2 14 0,-5-12 0,5 21 0,-6-17 0,-4 16 0,2-21 0,-2 9 0,3-17 0,1 9 0,-5-17 0,4 12 0,-8-15 0,-1-11 0,4-27 0,-2-22 0,20-24 0,4-7 0,9 12 0,7-12 0,-7 20 0,14-28 0,-13 18 0,-11 25 0,0-2 0,19-35 0,6 3 0,-1 8 0,-2 11 0,-9 19 0,5 1 0,-5 1 0,3 5 0,-9 1 0,-5 9 0,-13 3 0,-2 6 0,-3 4 0,-4 1 0,2 4 0,-3-1 0,5-2 0,-1 2 0,0-3 0,0-1 0,0 1 0,5-1 0,1-4 0,4-1 0,0 0 0,0 1 0,0 4 0,0 0 0,-8 0 0,6 0 0,-11 1 0,8 3 0,-5 1 0,-3 0 0,2 3 0,-3-2 0,5-1 0,-1 3 0,0-6 0,0 6 0,0-7 0,1 4 0,-1-5 0,0 5 0,0-4 0,-3 4 0,2-5 0,-2 5 0,7-4 0,14-8 0,-14 5 0,12-5 0,-20 12 0,5 0 0,-1 3 0,0-6 0,0 2 0,-3 1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5:30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24575,'30'30'0,"2"-1"0,13 21 0,10-1 0,-16-6 0,9 0 0,-6 5 0,0-6 0,8 7 0,-8-7 0,0 5 0,8 5 0,-16-9 0,14 7 0,-25-18 0,3-9 0,-14-3 0,1-11 0,-12-4 0,3-1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5:31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581 1 21272,'-20'4'0,"0"6"1579,-5 6-1579,-2 5 558,0 5-558,-5 2 285,3 12-285,-6-4 0,5 3 0,-3 2 0,-5 15 0,-1-3 0,-12 18 0,18-22 0,-9 7 0,19-16 0,0-11 0,4-5 0,8-9 0,-3 0 0,9-5 0,1-6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0:04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0 693 24575,'15'27'0,"0"5"0,-1-6 0,2 10 0,4 0 0,-5-2 0,10 7 0,-13-9 0,8 9 0,-5-7 0,-4 2 0,3-5 0,2 14 0,-5-12 0,5 21 0,-6-17 0,-4 16 0,2-21 0,-2 9 0,3-17 0,1 9 0,-5-17 0,4 12 0,-8-15 0,-1-11 0,4-27 0,-2-22 0,20-24 0,4-7 0,9 12 0,7-12 0,-7 20 0,14-28 0,-13 18 0,-11 25 0,0-2 0,19-35 0,6 3 0,-1 8 0,-2 11 0,-9 19 0,5 1 0,-5 1 0,3 5 0,-9 1 0,-5 9 0,-13 3 0,-2 6 0,-3 4 0,-4 1 0,2 4 0,-3-1 0,5-2 0,-1 2 0,0-3 0,0-1 0,0 1 0,5-1 0,1-4 0,4-1 0,0 0 0,0 1 0,0 4 0,0 0 0,-8 0 0,6 0 0,-11 1 0,8 3 0,-5 1 0,-3 0 0,2 3 0,-3-2 0,5-1 0,-1 3 0,0-6 0,0 6 0,0-7 0,1 4 0,-1-5 0,0 5 0,0-4 0,-3 4 0,2-5 0,-2 5 0,7-4 0,14-8 0,-14 5 0,12-5 0,-20 12 0,5 0 0,-1 3 0,0-6 0,0 2 0,-3 1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5:26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24575,'26'35'0,"-2"-9"0,15 23 0,-3-8 0,8 16 0,1 3 0,-15-20 0,1 0 0,23 27 0,-2-1 0,-8-5 0,-13-12 0,-8-3 0,-7-18 0,-6-4 0,-5-13 0,0-6 0,-5-2 0,0-7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5:27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1 24575,'-13'4'0,"2"-3"0,-26 26 0,10-6 0,-15 20 0,9-7 0,5-1 0,4 0 0,-8 1 0,14-1 0,-4-6 0,8-6 0,-1-2 0,5-9 0,-4 4 0,5-5 0,4 5 0,-3-4 0,7 4 0,-3-9 0,4-1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0:04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0 693 24575,'15'27'0,"0"5"0,-1-6 0,2 10 0,4 0 0,-5-2 0,10 7 0,-13-9 0,8 9 0,-5-7 0,-4 2 0,3-5 0,2 14 0,-5-12 0,5 21 0,-6-17 0,-4 16 0,2-21 0,-2 9 0,3-17 0,1 9 0,-5-17 0,4 12 0,-8-15 0,-1-11 0,4-27 0,-2-22 0,20-24 0,4-7 0,9 12 0,7-12 0,-7 20 0,14-28 0,-13 18 0,-11 25 0,0-2 0,19-35 0,6 3 0,-1 8 0,-2 11 0,-9 19 0,5 1 0,-5 1 0,3 5 0,-9 1 0,-5 9 0,-13 3 0,-2 6 0,-3 4 0,-4 1 0,2 4 0,-3-1 0,5-2 0,-1 2 0,0-3 0,0-1 0,0 1 0,5-1 0,1-4 0,4-1 0,0 0 0,0 1 0,0 4 0,0 0 0,-8 0 0,6 0 0,-11 1 0,8 3 0,-5 1 0,-3 0 0,2 3 0,-3-2 0,5-1 0,-1 3 0,0-6 0,0 6 0,0-7 0,1 4 0,-1-5 0,0 5 0,0-4 0,-3 4 0,2-5 0,-2 5 0,7-4 0,14-8 0,-14 5 0,12-5 0,-20 12 0,5 0 0,-1 3 0,0-6 0,0 2 0,-3 1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0:25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24575,'43'77'0,"0"1"0,0-1 0,0 0 0,1 0 0,-1 0 0,0 0 0,0 0 0,-5-11 0,-6-12 0,6 12-484,-1-1 1,8 16 0,7 11-1,1 3 1,-1-4 0,-6-9-1,-8-17 1,-13-22 483,-2-11 1200,-3-11-1200,-12-6 632,7-1-632,-11-9 0,-3-1 0,3-4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0:26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1095 24575,'31'-24'0,"31"-38"0,-26 18-709,1 2 0,1-4 709,23-29 0,-22 29 0,2-1 0,0-1 0,-1 0 0,-3 4 0,0 0 0,6-4 0,-1 2 0,28-23 0,0 1 0,1 9 0,-21 15 462,5 6-462,-18-1 234,-5 19-234,-10-10 0,-7 14 0,-1 1 722,-8 1-722,2 9 0,-7-3 0,3 7 0,-4-3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22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24575,'51'82'0,"-1"1"0,0-1 0,0 0 0,1 0 0,7 10 0,3 3 0,-11-14 0,-25-31 0,-25-36 0,-9-19 0,4 0 0,1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22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0 543 24575,'12'-44'0,"3"5"0,3-3 0,10 0 0,-3-4 0,10-3 0,27-24 0,-30 35 0,39-27 0,-53 53 0,15-15 0,-18 12 0,4-1 0,-7-3 0,-2 13 0,-6-3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25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24575,'19'10'0,"5"14"0,4 5 0,0 5 0,5 4 0,-8-3-6784,15 7 6784,-3 11-4537,6-9 4537,-5 5 0,-5-10 0,-5-6 0,-11-6 0,9 0 4537,-15-8-4537,3-4 6784,-4-1-6784,-5-5 0,-1 0 0,-4-4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25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0 578 24575,'0'-19'0,"5"3"0,6-21 0,1 8 0,23-24 0,-10 16 0,25-24 0,-13 23 0,11-16 0,-10 11 0,9-6 0,-15 8 0,1 6 0,-13 10 0,-9 5 0,-2 9 0,-9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27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24575,'10'20'0,"5"1"0,2 18 0,5-6 0,1 11 0,5-2 0,2-1 0,-1-2 0,5 2 0,-5-6 0,0-1 0,-2-8 0,-2-5 0,-12-6 0,5-4 0,-13-3 0,0-7 0,-1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28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0 514 24575,'0'-15'0,"5"-10"0,6 3 0,12-17 0,6 4 0,8-13 0,5-1 0,11-6 0,-7 5 0,3 11 0,-16 12 0,1-7 0,-7 15 0,-4-13 0,-13 21 0,-5 1 0,-5 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30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18561,'16'15'0,"9"10"1681,-8-8-1681,9 9 0,1 7 0,2-4 0,6 12 0,0-7 0,-7-1 0,12 3 0,-10-3 0,19 16 1301,-6-10-1301,14 17 0,-6-13 0,12 9 0,-12-8 713,5-1-713,-15-13 1649,5-1-1649,-22-13 643,1-5-643,-20-11 0,-1-1 0,-4-3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21:30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18 700 24575,'-9'0'0,"4"-4"0,1-12 0,9 0 0,5-15 0,7-2 0,5-1 0,2-24 0,14-11 0,-3-4 0,-12 26 0,2 0 0,20-28 0,-15 3 0,5 15 0,-23 24 0,-1 13 0,-7 10 0,-4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A888E44D-7523-0798-25F9-7D597E37AD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3F552980-0BE3-7E02-1A55-2C5544219B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DF31DD7-E940-153D-7EE8-FFF5ED42BCE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FA939653-0E70-14D2-A397-D9DBB76655D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21862" name="Rectangle 6">
            <a:extLst>
              <a:ext uri="{FF2B5EF4-FFF2-40B4-BE49-F238E27FC236}">
                <a16:creationId xmlns:a16="http://schemas.microsoft.com/office/drawing/2014/main" id="{44AE6BA0-5E61-9757-2FF2-C3EEBC66CC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1863" name="Rectangle 7">
            <a:extLst>
              <a:ext uri="{FF2B5EF4-FFF2-40B4-BE49-F238E27FC236}">
                <a16:creationId xmlns:a16="http://schemas.microsoft.com/office/drawing/2014/main" id="{7A7E187E-027C-A3CE-820E-A94FDD22D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EB9DC28-F6D2-1147-B822-E8EAD490EB5A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499BBB93-8BB0-44F6-C9D0-A7BF5957CD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4D1206-356B-F24C-B0EA-61F54F3721D6}" type="slidenum">
              <a:rPr lang="de-DE" altLang="de-DE"/>
              <a:pPr eaLnBrk="1" hangingPunct="1"/>
              <a:t>1</a:t>
            </a:fld>
            <a:endParaRPr lang="de-DE" altLang="de-DE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8AC07DA9-1B3D-D30C-DA98-033992A52E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4925" cy="3836988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803B802-B67A-FCFD-2662-A79699E72A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</p:spPr>
        <p:txBody>
          <a:bodyPr lIns="95392" tIns="47695" rIns="95392" bIns="47695"/>
          <a:lstStyle/>
          <a:p>
            <a:pPr eaLnBrk="1" hangingPunct="1"/>
            <a:r>
              <a:rPr lang="de-DE" altLang="de-DE"/>
              <a:t>„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>
            <a:extLst>
              <a:ext uri="{FF2B5EF4-FFF2-40B4-BE49-F238E27FC236}">
                <a16:creationId xmlns:a16="http://schemas.microsoft.com/office/drawing/2014/main" id="{AECB9069-D1D5-9BD6-3527-527FBBF8E2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368300"/>
            <a:ext cx="8642350" cy="2089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B26C3372-BE74-610C-3973-936E12AF7D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196850"/>
            <a:ext cx="8642350" cy="144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Line 29">
            <a:extLst>
              <a:ext uri="{FF2B5EF4-FFF2-40B4-BE49-F238E27FC236}">
                <a16:creationId xmlns:a16="http://schemas.microsoft.com/office/drawing/2014/main" id="{9734FB6E-0CD5-B594-7E96-B18192E2408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2413" y="6489700"/>
            <a:ext cx="864076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" name="Line 30">
            <a:extLst>
              <a:ext uri="{FF2B5EF4-FFF2-40B4-BE49-F238E27FC236}">
                <a16:creationId xmlns:a16="http://schemas.microsoft.com/office/drawing/2014/main" id="{E7AB54A9-7F25-D80E-8290-96F67346892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2413" y="6489700"/>
            <a:ext cx="864076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7FD3DA98-7AEB-DBE3-E455-2A1760732B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360363"/>
            <a:ext cx="8640763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B0023CC4-5AFB-F761-0A22-A6F80F12FB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2457450"/>
            <a:ext cx="8640763" cy="793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5874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8775" y="1700213"/>
            <a:ext cx="8461375" cy="693737"/>
          </a:xfrm>
        </p:spPr>
        <p:txBody>
          <a:bodyPr lIns="0" tIns="0" rIns="0" bIns="0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/>
            </a:lvl1pPr>
          </a:lstStyle>
          <a:p>
            <a:pPr lvl="0"/>
            <a:r>
              <a:rPr lang="de-DE" noProof="0"/>
              <a:t>Untertitelmasters durch </a:t>
            </a:r>
          </a:p>
          <a:p>
            <a:pPr lvl="0"/>
            <a:r>
              <a:rPr lang="de-DE" noProof="0"/>
              <a:t>Klicken bearbeiten</a:t>
            </a:r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70C58BE1-6347-705C-FBC0-2C2A4227F9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5C455D-8255-4B0D-BAF0-E320D183C8F1}" type="datetime1">
              <a:rPr lang="de-DE"/>
              <a:pPr>
                <a:defRPr/>
              </a:pPr>
              <a:t>11.01.2026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612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02EB5C6C-EBD4-A85E-5E96-672403BD2CB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0D486918-0B3F-F54D-86D0-42CD0243D3E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0685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EFA4E5C3-1948-CAFA-39B5-84780D03DC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9E768520-F218-B841-AA5E-25CBCB97CFE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7282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0825" y="1592263"/>
            <a:ext cx="4243388" cy="4789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6613" y="1592263"/>
            <a:ext cx="4244975" cy="4789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C2284C0F-BFAF-C771-CFF1-AC5440304D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A13AAC13-F280-7849-BA8C-C76C529F4EE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2078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2239C1B7-27AC-A120-EDBB-1E8C9B348C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1A714805-BAD9-6249-BA7E-BDAC1897906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8125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23">
            <a:extLst>
              <a:ext uri="{FF2B5EF4-FFF2-40B4-BE49-F238E27FC236}">
                <a16:creationId xmlns:a16="http://schemas.microsoft.com/office/drawing/2014/main" id="{28BB600D-F7F1-1145-079A-0C5147695B1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6B466BF5-32F1-3A40-B61F-5277D34B3BB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3894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>
            <a:extLst>
              <a:ext uri="{FF2B5EF4-FFF2-40B4-BE49-F238E27FC236}">
                <a16:creationId xmlns:a16="http://schemas.microsoft.com/office/drawing/2014/main" id="{C39CBD82-342D-A11D-E09E-5BAD98BBF9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F7AB1489-B3ED-1E4D-A3A1-026657853EC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6490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F01E697F-5061-AC97-5B34-7A5D2BD61C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0F07AF36-83AD-3640-801D-CBE2FC2043C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5276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E335428E-9E28-ED62-5A5B-E6063914A1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FA1555FF-0A26-F043-90DB-CA77CF0401E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3380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4B4BBE5C-36EA-D85F-82B8-07B1C02C73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E9A82CBB-3106-C141-8A75-51E5A3439A6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8155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19" name="Rectangle 23">
            <a:extLst>
              <a:ext uri="{FF2B5EF4-FFF2-40B4-BE49-F238E27FC236}">
                <a16:creationId xmlns:a16="http://schemas.microsoft.com/office/drawing/2014/main" id="{EB856B74-DBBE-C11B-65AD-9CD0668E97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775" y="6510338"/>
            <a:ext cx="8532813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EB526701-632C-1642-8101-306C2088540B}" type="datetime1">
              <a:rPr lang="de-DE" altLang="de-DE"/>
              <a:pPr/>
              <a:t>11.01.2026</a:t>
            </a:fld>
            <a:r>
              <a:rPr lang="de-DE" altLang="de-DE"/>
              <a:t> | </a:t>
            </a:r>
            <a:fld id="{D49E23C9-5B4A-F147-9D2D-7D421C67B7F4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1027" name="Rectangle 24">
            <a:extLst>
              <a:ext uri="{FF2B5EF4-FFF2-40B4-BE49-F238E27FC236}">
                <a16:creationId xmlns:a16="http://schemas.microsoft.com/office/drawing/2014/main" id="{D6CDADAD-2A90-1546-2A68-0ED40A3A6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368300"/>
            <a:ext cx="8642350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503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028" name="Rectangle 25">
            <a:extLst>
              <a:ext uri="{FF2B5EF4-FFF2-40B4-BE49-F238E27FC236}">
                <a16:creationId xmlns:a16="http://schemas.microsoft.com/office/drawing/2014/main" id="{DD3738CB-32E8-9BFA-AE2A-47231382B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2413" y="488950"/>
            <a:ext cx="6840537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9" name="Rectangle 26">
            <a:extLst>
              <a:ext uri="{FF2B5EF4-FFF2-40B4-BE49-F238E27FC236}">
                <a16:creationId xmlns:a16="http://schemas.microsoft.com/office/drawing/2014/main" id="{E4F3CB2E-B6E8-0A41-7C9B-7A7A7946A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592263"/>
            <a:ext cx="8640763" cy="478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57723" name="Rectangle 27">
            <a:extLst>
              <a:ext uri="{FF2B5EF4-FFF2-40B4-BE49-F238E27FC236}">
                <a16:creationId xmlns:a16="http://schemas.microsoft.com/office/drawing/2014/main" id="{79D34C87-4871-ACA2-69A1-6BDC3B5985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196850"/>
            <a:ext cx="8642350" cy="14446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rgbClr val="B5B5B5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31" name="Line 29">
            <a:extLst>
              <a:ext uri="{FF2B5EF4-FFF2-40B4-BE49-F238E27FC236}">
                <a16:creationId xmlns:a16="http://schemas.microsoft.com/office/drawing/2014/main" id="{A5C2F5BF-6A6A-C0F6-6BBA-3FE2DCE747B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0825" y="1449388"/>
            <a:ext cx="8640763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32" name="Line 30">
            <a:extLst>
              <a:ext uri="{FF2B5EF4-FFF2-40B4-BE49-F238E27FC236}">
                <a16:creationId xmlns:a16="http://schemas.microsoft.com/office/drawing/2014/main" id="{DDDFA3AF-C678-3729-4018-0D7DC0C7A0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2413" y="6489700"/>
            <a:ext cx="864076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33" name="Rectangle 31">
            <a:extLst>
              <a:ext uri="{FF2B5EF4-FFF2-40B4-BE49-F238E27FC236}">
                <a16:creationId xmlns:a16="http://schemas.microsoft.com/office/drawing/2014/main" id="{5E06EA58-C8BD-5F46-CAFE-862632212F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0825" y="366713"/>
            <a:ext cx="8640763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034" name="Textfeld 12">
            <a:extLst>
              <a:ext uri="{FF2B5EF4-FFF2-40B4-BE49-F238E27FC236}">
                <a16:creationId xmlns:a16="http://schemas.microsoft.com/office/drawing/2014/main" id="{5CE06C69-7C15-B301-01B4-A5D50BD930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96138" y="647700"/>
            <a:ext cx="17684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 sz="1400"/>
              <a:t>Goethe-Universität</a:t>
            </a:r>
          </a:p>
          <a:p>
            <a:pPr eaLnBrk="1" hangingPunct="1"/>
            <a:r>
              <a:rPr lang="de-DE" altLang="de-DE" sz="1400"/>
              <a:t>Frankfurt am Main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9pPr>
    </p:titleStyle>
    <p:bodyStyle>
      <a:lvl1pPr marL="179388" indent="-17938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49250" indent="-1682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538163" indent="-18732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3pPr>
      <a:lvl4pPr marL="717550" indent="-1730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908050" indent="-1889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13652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8224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2796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7368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customXml" Target="../ink/ink6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customXml" Target="../ink/ink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13.xml"/><Relationship Id="rId18" Type="http://schemas.openxmlformats.org/officeDocument/2006/relationships/image" Target="../media/image23.png"/><Relationship Id="rId3" Type="http://schemas.openxmlformats.org/officeDocument/2006/relationships/customXml" Target="../ink/ink8.xml"/><Relationship Id="rId21" Type="http://schemas.openxmlformats.org/officeDocument/2006/relationships/customXml" Target="../ink/ink17.xml"/><Relationship Id="rId7" Type="http://schemas.openxmlformats.org/officeDocument/2006/relationships/customXml" Target="../ink/ink10.xml"/><Relationship Id="rId12" Type="http://schemas.openxmlformats.org/officeDocument/2006/relationships/image" Target="../media/image20.png"/><Relationship Id="rId17" Type="http://schemas.openxmlformats.org/officeDocument/2006/relationships/customXml" Target="../ink/ink15.xml"/><Relationship Id="rId2" Type="http://schemas.openxmlformats.org/officeDocument/2006/relationships/image" Target="../media/image15.png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9.png"/><Relationship Id="rId19" Type="http://schemas.openxmlformats.org/officeDocument/2006/relationships/customXml" Target="../ink/ink16.xml"/><Relationship Id="rId4" Type="http://schemas.openxmlformats.org/officeDocument/2006/relationships/image" Target="../media/image16.png"/><Relationship Id="rId9" Type="http://schemas.openxmlformats.org/officeDocument/2006/relationships/customXml" Target="../ink/ink11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1">
            <a:extLst>
              <a:ext uri="{FF2B5EF4-FFF2-40B4-BE49-F238E27FC236}">
                <a16:creationId xmlns:a16="http://schemas.microsoft.com/office/drawing/2014/main" id="{E6BEBF05-A003-EC00-460D-DF26F1BD3B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de-DE"/>
              <a:t>06.05.2011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F3108155-C181-D212-2E58-7F4C9F4E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6193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D73DEEF4-1B3A-377C-EB7D-2813BB75B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6193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3077" name="Text Box 18">
            <a:extLst>
              <a:ext uri="{FF2B5EF4-FFF2-40B4-BE49-F238E27FC236}">
                <a16:creationId xmlns:a16="http://schemas.microsoft.com/office/drawing/2014/main" id="{C68F3F1E-8CC9-52B8-487E-9F2945EB3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628775"/>
            <a:ext cx="84963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de-DE" sz="3000" b="1" dirty="0" err="1">
                <a:solidFill>
                  <a:schemeClr val="bg1"/>
                </a:solidFill>
              </a:rPr>
              <a:t>Excercise</a:t>
            </a:r>
            <a:r>
              <a:rPr lang="de-DE" altLang="de-DE" sz="3000" b="1" dirty="0">
                <a:solidFill>
                  <a:schemeClr val="bg1"/>
                </a:solidFill>
              </a:rPr>
              <a:t> 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DECA23F-0B77-0970-3255-A9879C0A13F9}"/>
              </a:ext>
            </a:extLst>
          </p:cNvPr>
          <p:cNvSpPr txBox="1"/>
          <p:nvPr/>
        </p:nvSpPr>
        <p:spPr>
          <a:xfrm>
            <a:off x="971600" y="2708920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Authors</a:t>
            </a:r>
            <a:r>
              <a:rPr lang="de-DE" dirty="0"/>
              <a:t>: Felix Findeisen; Lucas Janssen</a:t>
            </a:r>
          </a:p>
          <a:p>
            <a:r>
              <a:rPr lang="de-DE" dirty="0"/>
              <a:t>Group: 3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B918219F-F2C6-B470-DC64-DBD72E2DE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Task 1 - </a:t>
            </a:r>
            <a:r>
              <a:rPr lang="de-DE" dirty="0" err="1"/>
              <a:t>Automatic</a:t>
            </a:r>
            <a:r>
              <a:rPr lang="de-DE" dirty="0"/>
              <a:t> </a:t>
            </a:r>
            <a:r>
              <a:rPr lang="de-DE" dirty="0" err="1"/>
              <a:t>Evaluator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CA0039-42C9-7B6B-5C56-91B0F4514A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B95C455D-8255-4B0D-BAF0-E320D183C8F1}" type="datetime1">
              <a:rPr lang="de-DE" smtClean="0"/>
              <a:pPr>
                <a:defRPr/>
              </a:pPr>
              <a:t>11.01.2026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312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38B0BCCA-1619-1574-A405-C62099FD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1 Approach</a:t>
            </a:r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987B4D2B-5058-C768-6CB9-AA257A66E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3</a:t>
            </a:fld>
            <a:endParaRPr lang="de-DE" alt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AE2806A-8C09-6303-6FDE-483490A90350}"/>
              </a:ext>
            </a:extLst>
          </p:cNvPr>
          <p:cNvSpPr txBox="1"/>
          <p:nvPr/>
        </p:nvSpPr>
        <p:spPr>
          <a:xfrm>
            <a:off x="179512" y="1628800"/>
            <a:ext cx="8532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de-DE" dirty="0" err="1"/>
              <a:t>Automated</a:t>
            </a:r>
            <a:r>
              <a:rPr lang="de-DE" dirty="0"/>
              <a:t> </a:t>
            </a:r>
            <a:r>
              <a:rPr lang="de-DE" dirty="0" err="1"/>
              <a:t>extraction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Tasks, Events &amp; Gateways</a:t>
            </a:r>
          </a:p>
          <a:p>
            <a:pPr marL="342900" indent="-342900">
              <a:buFont typeface="+mj-lt"/>
              <a:buAutoNum type="alphaLcPeriod"/>
            </a:pPr>
            <a:r>
              <a:rPr lang="de-DE" dirty="0" err="1"/>
              <a:t>Choosing</a:t>
            </a:r>
            <a:r>
              <a:rPr lang="de-DE" dirty="0"/>
              <a:t> Method: Structured Outputs</a:t>
            </a:r>
          </a:p>
          <a:p>
            <a:pPr marL="342900" indent="-342900">
              <a:buFont typeface="+mj-lt"/>
              <a:buAutoNum type="alphaLcPeriod"/>
            </a:pPr>
            <a:r>
              <a:rPr lang="de-DE" dirty="0" err="1"/>
              <a:t>Automatic</a:t>
            </a:r>
            <a:r>
              <a:rPr lang="de-DE" dirty="0"/>
              <a:t> </a:t>
            </a:r>
            <a:r>
              <a:rPr lang="de-DE" dirty="0" err="1"/>
              <a:t>computation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precision</a:t>
            </a:r>
            <a:r>
              <a:rPr lang="de-DE" dirty="0"/>
              <a:t> &amp; </a:t>
            </a:r>
            <a:r>
              <a:rPr lang="de-DE" dirty="0" err="1"/>
              <a:t>recall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342900" indent="-342900">
              <a:buFont typeface="+mj-lt"/>
              <a:buAutoNum type="alphaLcPeriod"/>
            </a:pPr>
            <a:r>
              <a:rPr lang="de-DE" dirty="0"/>
              <a:t>Run </a:t>
            </a:r>
            <a:r>
              <a:rPr lang="de-DE" dirty="0" err="1"/>
              <a:t>for</a:t>
            </a:r>
            <a:r>
              <a:rPr lang="de-DE" dirty="0"/>
              <a:t> 3 different </a:t>
            </a:r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texts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BMPN </a:t>
            </a:r>
            <a:r>
              <a:rPr lang="de-DE" dirty="0" err="1"/>
              <a:t>models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C2BA-F8AE-6364-E90D-5980051B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3FFE9307-4165-3331-74D6-DEB893ED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1a) </a:t>
            </a:r>
            <a:r>
              <a:rPr lang="de-DE" dirty="0" err="1"/>
              <a:t>Automated</a:t>
            </a:r>
            <a:r>
              <a:rPr lang="de-DE" dirty="0"/>
              <a:t> </a:t>
            </a:r>
            <a:r>
              <a:rPr lang="de-DE" dirty="0" err="1"/>
              <a:t>extraction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Tasks, Events &amp; Gateways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38245779-EC79-4EF1-C480-D7F4E27048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4</a:t>
            </a:fld>
            <a:endParaRPr lang="de-DE" alt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6F8EDFA-4F87-4AB9-1376-39AE0080A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602057"/>
            <a:ext cx="4442353" cy="25624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68D1B00-4FB4-D32E-6025-7B3461697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4869160"/>
            <a:ext cx="8640053" cy="2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2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FB80-9A20-FF00-9E9B-F21376B4D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C51702B4-A8DB-8747-C932-A8E44FCF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1b) &amp; 1c) </a:t>
            </a:r>
            <a:r>
              <a:rPr lang="de-DE" dirty="0" err="1"/>
              <a:t>Choosing</a:t>
            </a:r>
            <a:r>
              <a:rPr lang="de-DE" dirty="0"/>
              <a:t> Method: Structured Outputs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F4FDB5AD-D10E-82E1-E892-5455E4A132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5</a:t>
            </a:fld>
            <a:endParaRPr lang="de-DE" alt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98924CD-1EC5-50DD-8B52-75EC2D24C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440" y="1799135"/>
            <a:ext cx="5601482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8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6108-677A-1FC3-4D62-04F3B718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AB802932-A53A-44D5-3BF1-951610B8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1d) </a:t>
            </a:r>
            <a:r>
              <a:rPr lang="de-DE" dirty="0"/>
              <a:t>Run </a:t>
            </a:r>
            <a:r>
              <a:rPr lang="de-DE" dirty="0" err="1"/>
              <a:t>for</a:t>
            </a:r>
            <a:r>
              <a:rPr lang="de-DE" dirty="0"/>
              <a:t> 3 different </a:t>
            </a:r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texts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BMPN </a:t>
            </a:r>
            <a:r>
              <a:rPr lang="de-DE" dirty="0" err="1"/>
              <a:t>models</a:t>
            </a:r>
            <a:r>
              <a:rPr lang="de-DE" altLang="de-DE" dirty="0"/>
              <a:t> </a:t>
            </a:r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757FD0C0-E783-693A-D7FD-7A646ACDDA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6</a:t>
            </a:fld>
            <a:endParaRPr lang="de-DE" alt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71F7CE-137C-B5DC-658B-322B7093B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85" y="2927489"/>
            <a:ext cx="7785029" cy="151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0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4AA5-1A86-B1C1-4F69-DAC89D88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3D595FFA-AE2F-E17F-7F30-AD30369C1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Task 2 - Adaptation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63C5F1-6150-DAE4-F06C-049627E496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B95C455D-8255-4B0D-BAF0-E320D183C8F1}" type="datetime1">
              <a:rPr lang="de-DE" smtClean="0"/>
              <a:pPr>
                <a:defRPr/>
              </a:pPr>
              <a:t>11.01.2026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403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DA1E-8535-C605-8EAF-172B5883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3F34B87C-8EA5-1E6F-424F-A930ADA4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1 </a:t>
            </a:r>
            <a:r>
              <a:rPr lang="de-DE" altLang="de-DE" dirty="0" err="1"/>
              <a:t>Structure</a:t>
            </a:r>
            <a:r>
              <a:rPr lang="de-DE" altLang="de-DE" dirty="0"/>
              <a:t>: Retrieval </a:t>
            </a:r>
            <a:r>
              <a:rPr lang="de-DE" altLang="de-DE" dirty="0" err="1"/>
              <a:t>Augmented</a:t>
            </a:r>
            <a:r>
              <a:rPr lang="de-DE" altLang="de-DE" dirty="0"/>
              <a:t> Generation</a:t>
            </a:r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2692893B-8795-C051-B7B9-4399970A01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8</a:t>
            </a:fld>
            <a:endParaRPr lang="de-DE" alt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3B793C1-0851-9DEA-6DE3-E241F71D450F}"/>
              </a:ext>
            </a:extLst>
          </p:cNvPr>
          <p:cNvSpPr/>
          <p:nvPr/>
        </p:nvSpPr>
        <p:spPr>
          <a:xfrm>
            <a:off x="358775" y="184482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Query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426A405-ED9C-795D-CFE6-562F044BF287}"/>
              </a:ext>
            </a:extLst>
          </p:cNvPr>
          <p:cNvSpPr/>
          <p:nvPr/>
        </p:nvSpPr>
        <p:spPr>
          <a:xfrm>
            <a:off x="3019550" y="184482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Prompt </a:t>
            </a:r>
            <a:r>
              <a:rPr lang="de-DE" dirty="0" err="1"/>
              <a:t>Builder</a:t>
            </a:r>
            <a:endParaRPr lang="de-DE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C1DA4C4-8FD2-71CF-33F3-9BADB84EE36D}"/>
              </a:ext>
            </a:extLst>
          </p:cNvPr>
          <p:cNvGrpSpPr/>
          <p:nvPr/>
        </p:nvGrpSpPr>
        <p:grpSpPr>
          <a:xfrm>
            <a:off x="5436096" y="1667907"/>
            <a:ext cx="971351" cy="937647"/>
            <a:chOff x="4028330" y="1675656"/>
            <a:chExt cx="971351" cy="937647"/>
          </a:xfrm>
        </p:grpSpPr>
        <p:pic>
          <p:nvPicPr>
            <p:cNvPr id="6" name="Grafik 5" descr="Gehirn Silhouette">
              <a:extLst>
                <a:ext uri="{FF2B5EF4-FFF2-40B4-BE49-F238E27FC236}">
                  <a16:creationId xmlns:a16="http://schemas.microsoft.com/office/drawing/2014/main" id="{DE58C80F-2DD6-0D40-53E0-648440011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67981" y="1675656"/>
              <a:ext cx="692051" cy="692051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83FB5C7-F09A-851D-010B-F5D6B308C954}"/>
                </a:ext>
              </a:extLst>
            </p:cNvPr>
            <p:cNvSpPr txBox="1"/>
            <p:nvPr/>
          </p:nvSpPr>
          <p:spPr>
            <a:xfrm>
              <a:off x="4028330" y="2243971"/>
              <a:ext cx="971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LLM</a:t>
              </a:r>
            </a:p>
          </p:txBody>
        </p:sp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5AF78006-9E57-1B76-FA3A-B35B9E23D667}"/>
              </a:ext>
            </a:extLst>
          </p:cNvPr>
          <p:cNvSpPr/>
          <p:nvPr/>
        </p:nvSpPr>
        <p:spPr>
          <a:xfrm>
            <a:off x="7596336" y="1849086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Output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F8176F8-12CB-2114-147B-DC379BA5E70D}"/>
              </a:ext>
            </a:extLst>
          </p:cNvPr>
          <p:cNvSpPr/>
          <p:nvPr/>
        </p:nvSpPr>
        <p:spPr>
          <a:xfrm>
            <a:off x="358775" y="3511921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Embedding Model 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A5F5922-E247-A21A-0DB0-F06C3968CBDA}"/>
              </a:ext>
            </a:extLst>
          </p:cNvPr>
          <p:cNvGrpSpPr/>
          <p:nvPr/>
        </p:nvGrpSpPr>
        <p:grpSpPr>
          <a:xfrm>
            <a:off x="3026532" y="3310283"/>
            <a:ext cx="1224136" cy="1216922"/>
            <a:chOff x="3906654" y="1675656"/>
            <a:chExt cx="1224136" cy="1216922"/>
          </a:xfrm>
        </p:grpSpPr>
        <p:pic>
          <p:nvPicPr>
            <p:cNvPr id="18" name="Grafik 17" descr="Datenbank Silhouette">
              <a:extLst>
                <a:ext uri="{FF2B5EF4-FFF2-40B4-BE49-F238E27FC236}">
                  <a16:creationId xmlns:a16="http://schemas.microsoft.com/office/drawing/2014/main" id="{3D3BBBBA-2EB7-D03D-1CCE-0C322A502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167981" y="1675656"/>
              <a:ext cx="692051" cy="692051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0DB2D61-4C80-66C2-C5F0-BC942E5739C1}"/>
                </a:ext>
              </a:extLst>
            </p:cNvPr>
            <p:cNvSpPr txBox="1"/>
            <p:nvPr/>
          </p:nvSpPr>
          <p:spPr>
            <a:xfrm>
              <a:off x="3906654" y="2246247"/>
              <a:ext cx="12241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Doc Database</a:t>
              </a:r>
            </a:p>
          </p:txBody>
        </p:sp>
      </p:grpSp>
      <p:sp>
        <p:nvSpPr>
          <p:cNvPr id="20" name="Rechteck 19">
            <a:extLst>
              <a:ext uri="{FF2B5EF4-FFF2-40B4-BE49-F238E27FC236}">
                <a16:creationId xmlns:a16="http://schemas.microsoft.com/office/drawing/2014/main" id="{EC1E7AB2-3258-4924-8772-1800EF425C71}"/>
              </a:ext>
            </a:extLst>
          </p:cNvPr>
          <p:cNvSpPr/>
          <p:nvPr/>
        </p:nvSpPr>
        <p:spPr>
          <a:xfrm>
            <a:off x="5112607" y="3511921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Embedding Model 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5133455E-6345-DEAB-0D6E-8497CFEB4143}"/>
              </a:ext>
            </a:extLst>
          </p:cNvPr>
          <p:cNvGrpSpPr/>
          <p:nvPr/>
        </p:nvGrpSpPr>
        <p:grpSpPr>
          <a:xfrm>
            <a:off x="7315852" y="3004109"/>
            <a:ext cx="1648636" cy="1355685"/>
            <a:chOff x="6276014" y="3004109"/>
            <a:chExt cx="1648636" cy="1355685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5F871639-6089-30FB-AA0C-ADB1E20B9F1A}"/>
                </a:ext>
              </a:extLst>
            </p:cNvPr>
            <p:cNvGrpSpPr/>
            <p:nvPr/>
          </p:nvGrpSpPr>
          <p:grpSpPr>
            <a:xfrm>
              <a:off x="6622039" y="3329991"/>
              <a:ext cx="971351" cy="1029803"/>
              <a:chOff x="4043095" y="1675656"/>
              <a:chExt cx="971351" cy="1029803"/>
            </a:xfrm>
          </p:grpSpPr>
          <p:pic>
            <p:nvPicPr>
              <p:cNvPr id="22" name="Grafik 21" descr="Dokument Silhouette">
                <a:extLst>
                  <a:ext uri="{FF2B5EF4-FFF2-40B4-BE49-F238E27FC236}">
                    <a16:creationId xmlns:a16="http://schemas.microsoft.com/office/drawing/2014/main" id="{6015AD97-DB8D-CAEB-88C3-1E5B826FED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4167981" y="1675656"/>
                <a:ext cx="692051" cy="692051"/>
              </a:xfrm>
              <a:prstGeom prst="rect">
                <a:avLst/>
              </a:prstGeom>
            </p:spPr>
          </p:pic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078F8F2A-8DD7-208E-02F1-D166DA44CEFD}"/>
                  </a:ext>
                </a:extLst>
              </p:cNvPr>
              <p:cNvSpPr txBox="1"/>
              <p:nvPr/>
            </p:nvSpPr>
            <p:spPr>
              <a:xfrm>
                <a:off x="4043095" y="2336127"/>
                <a:ext cx="9713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dirty="0"/>
                  <a:t>Docs</a:t>
                </a:r>
              </a:p>
            </p:txBody>
          </p:sp>
        </p:grpSp>
        <p:pic>
          <p:nvPicPr>
            <p:cNvPr id="24" name="Grafik 23" descr="Dokument Silhouette">
              <a:extLst>
                <a:ext uri="{FF2B5EF4-FFF2-40B4-BE49-F238E27FC236}">
                  <a16:creationId xmlns:a16="http://schemas.microsoft.com/office/drawing/2014/main" id="{60C4A97A-91BC-E066-23FD-8E66FE74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232599" y="3107902"/>
              <a:ext cx="692051" cy="692051"/>
            </a:xfrm>
            <a:prstGeom prst="rect">
              <a:avLst/>
            </a:prstGeom>
          </p:spPr>
        </p:pic>
        <p:pic>
          <p:nvPicPr>
            <p:cNvPr id="25" name="Grafik 24" descr="Dokument Silhouette">
              <a:extLst>
                <a:ext uri="{FF2B5EF4-FFF2-40B4-BE49-F238E27FC236}">
                  <a16:creationId xmlns:a16="http://schemas.microsoft.com/office/drawing/2014/main" id="{2B8DD337-1B7C-78AA-8EB3-E70D9B870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276014" y="3004109"/>
              <a:ext cx="692051" cy="692051"/>
            </a:xfrm>
            <a:prstGeom prst="rect">
              <a:avLst/>
            </a:prstGeom>
          </p:spPr>
        </p:pic>
      </p:grp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4261DCF4-9699-52D2-1E3C-BDD7C1671328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336743" y="3799953"/>
            <a:ext cx="11213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4DEE2ECE-D0A0-92D3-FDF5-08C59ECB68B1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979910" y="3799953"/>
            <a:ext cx="1132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CF674085-768C-AD71-BB9B-9D59D901004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582911" y="3799953"/>
            <a:ext cx="15489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09C6D42E-F115-D633-BC36-45BE4AE790C8}"/>
              </a:ext>
            </a:extLst>
          </p:cNvPr>
          <p:cNvCxnSpPr>
            <a:cxnSpLocks/>
            <a:stCxn id="18" idx="0"/>
            <a:endCxn id="4" idx="2"/>
          </p:cNvCxnSpPr>
          <p:nvPr/>
        </p:nvCxnSpPr>
        <p:spPr>
          <a:xfrm flipH="1" flipV="1">
            <a:off x="3631618" y="2420888"/>
            <a:ext cx="2267" cy="8893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3963D1A5-321E-75BA-297C-9BD78CC49F1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582911" y="2132856"/>
            <a:ext cx="14366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71A5239D-EF4F-01AB-1B45-E2902C6A661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243686" y="2132856"/>
            <a:ext cx="11924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677245B-0DFD-AF74-F22E-2E9BA4245AF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292393" y="2137118"/>
            <a:ext cx="1303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D8F58772-C0F3-A06F-2659-D2103EDDC3BF}"/>
              </a:ext>
            </a:extLst>
          </p:cNvPr>
          <p:cNvSpPr txBox="1"/>
          <p:nvPr/>
        </p:nvSpPr>
        <p:spPr>
          <a:xfrm>
            <a:off x="1766715" y="1774937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User Query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F7AECC77-11CA-274B-994F-B401708FAACD}"/>
              </a:ext>
            </a:extLst>
          </p:cNvPr>
          <p:cNvSpPr txBox="1"/>
          <p:nvPr/>
        </p:nvSpPr>
        <p:spPr>
          <a:xfrm>
            <a:off x="987085" y="2710087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User </a:t>
            </a:r>
            <a:br>
              <a:rPr lang="de-DE" sz="1200" dirty="0"/>
            </a:br>
            <a:r>
              <a:rPr lang="de-DE" sz="1200" dirty="0"/>
              <a:t>Query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51DC68D6-673F-39D0-8E53-33E4E00EB56E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970843" y="2420888"/>
            <a:ext cx="0" cy="1091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56C19576-38C2-D667-FB14-9F1E831C6BEE}"/>
              </a:ext>
            </a:extLst>
          </p:cNvPr>
          <p:cNvSpPr txBox="1"/>
          <p:nvPr/>
        </p:nvSpPr>
        <p:spPr>
          <a:xfrm>
            <a:off x="1738930" y="3503474"/>
            <a:ext cx="1175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Embeddings</a:t>
            </a:r>
            <a:endParaRPr lang="de-DE" sz="12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C77CB99A-1DC4-10E6-080E-2D76E26A2D96}"/>
              </a:ext>
            </a:extLst>
          </p:cNvPr>
          <p:cNvSpPr txBox="1"/>
          <p:nvPr/>
        </p:nvSpPr>
        <p:spPr>
          <a:xfrm>
            <a:off x="4116631" y="3469001"/>
            <a:ext cx="1175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Embeddings</a:t>
            </a:r>
            <a:endParaRPr lang="de-DE" sz="1200" dirty="0"/>
          </a:p>
        </p:txBody>
      </p:sp>
      <p:sp>
        <p:nvSpPr>
          <p:cNvPr id="5120" name="Textfeld 5119">
            <a:extLst>
              <a:ext uri="{FF2B5EF4-FFF2-40B4-BE49-F238E27FC236}">
                <a16:creationId xmlns:a16="http://schemas.microsoft.com/office/drawing/2014/main" id="{8331FDB0-C508-A452-31F1-201175FB093D}"/>
              </a:ext>
            </a:extLst>
          </p:cNvPr>
          <p:cNvSpPr txBox="1"/>
          <p:nvPr/>
        </p:nvSpPr>
        <p:spPr>
          <a:xfrm>
            <a:off x="3672681" y="2718600"/>
            <a:ext cx="11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Relevant</a:t>
            </a:r>
            <a:br>
              <a:rPr lang="de-DE" sz="1200" dirty="0"/>
            </a:br>
            <a:r>
              <a:rPr lang="de-DE" sz="1200" dirty="0" err="1"/>
              <a:t>Documents</a:t>
            </a:r>
            <a:endParaRPr lang="de-DE" sz="1200" dirty="0"/>
          </a:p>
        </p:txBody>
      </p:sp>
      <p:sp>
        <p:nvSpPr>
          <p:cNvPr id="5121" name="Textfeld 5120">
            <a:extLst>
              <a:ext uri="{FF2B5EF4-FFF2-40B4-BE49-F238E27FC236}">
                <a16:creationId xmlns:a16="http://schemas.microsoft.com/office/drawing/2014/main" id="{E875B781-E5E7-1F68-BEAF-67595343ACCB}"/>
              </a:ext>
            </a:extLst>
          </p:cNvPr>
          <p:cNvSpPr txBox="1"/>
          <p:nvPr/>
        </p:nvSpPr>
        <p:spPr>
          <a:xfrm>
            <a:off x="6372200" y="3504345"/>
            <a:ext cx="1175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Documents</a:t>
            </a:r>
            <a:endParaRPr lang="de-DE" sz="1200" dirty="0"/>
          </a:p>
        </p:txBody>
      </p:sp>
      <p:sp>
        <p:nvSpPr>
          <p:cNvPr id="5125" name="Textfeld 5124">
            <a:extLst>
              <a:ext uri="{FF2B5EF4-FFF2-40B4-BE49-F238E27FC236}">
                <a16:creationId xmlns:a16="http://schemas.microsoft.com/office/drawing/2014/main" id="{18D8080B-E765-F339-F5D7-5CE419F659D8}"/>
              </a:ext>
            </a:extLst>
          </p:cNvPr>
          <p:cNvSpPr txBox="1"/>
          <p:nvPr/>
        </p:nvSpPr>
        <p:spPr>
          <a:xfrm>
            <a:off x="4330472" y="1642839"/>
            <a:ext cx="11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Query +</a:t>
            </a:r>
            <a:br>
              <a:rPr lang="de-DE" sz="1200" dirty="0"/>
            </a:br>
            <a:r>
              <a:rPr lang="de-DE" sz="1200" dirty="0" err="1"/>
              <a:t>Documents</a:t>
            </a:r>
            <a:endParaRPr lang="de-DE" sz="1200" dirty="0"/>
          </a:p>
        </p:txBody>
      </p:sp>
      <p:sp>
        <p:nvSpPr>
          <p:cNvPr id="5126" name="Textfeld 5125">
            <a:extLst>
              <a:ext uri="{FF2B5EF4-FFF2-40B4-BE49-F238E27FC236}">
                <a16:creationId xmlns:a16="http://schemas.microsoft.com/office/drawing/2014/main" id="{3B8DD216-3AC3-5AEB-CD3C-BCB980023864}"/>
              </a:ext>
            </a:extLst>
          </p:cNvPr>
          <p:cNvSpPr txBox="1"/>
          <p:nvPr/>
        </p:nvSpPr>
        <p:spPr>
          <a:xfrm>
            <a:off x="6449969" y="182738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75565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FA974-D680-A058-B042-566918CF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DAF3467F-5275-74DD-D818-798C04D4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1 </a:t>
            </a:r>
            <a:r>
              <a:rPr lang="de-DE" altLang="de-DE" dirty="0" err="1"/>
              <a:t>Structure</a:t>
            </a:r>
            <a:r>
              <a:rPr lang="de-DE" altLang="de-DE" dirty="0"/>
              <a:t>: This RAG </a:t>
            </a:r>
            <a:r>
              <a:rPr lang="de-DE" altLang="de-DE" dirty="0" err="1"/>
              <a:t>Structure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C82819F8-58FF-563A-3063-BF56381695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9</a:t>
            </a:fld>
            <a:endParaRPr lang="de-DE" alt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EA7C67-7E12-2B88-1AB8-89389C7DC304}"/>
              </a:ext>
            </a:extLst>
          </p:cNvPr>
          <p:cNvSpPr/>
          <p:nvPr/>
        </p:nvSpPr>
        <p:spPr>
          <a:xfrm>
            <a:off x="358775" y="184482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Query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6E802AE-8F6A-2879-4793-5B85A6ECDA5A}"/>
              </a:ext>
            </a:extLst>
          </p:cNvPr>
          <p:cNvSpPr/>
          <p:nvPr/>
        </p:nvSpPr>
        <p:spPr>
          <a:xfrm>
            <a:off x="3019550" y="184482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Prompt </a:t>
            </a:r>
            <a:r>
              <a:rPr lang="de-DE" dirty="0" err="1"/>
              <a:t>Builder</a:t>
            </a:r>
            <a:endParaRPr lang="de-DE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5E4BAF5-B45E-0513-4903-69AC7FD28885}"/>
              </a:ext>
            </a:extLst>
          </p:cNvPr>
          <p:cNvGrpSpPr/>
          <p:nvPr/>
        </p:nvGrpSpPr>
        <p:grpSpPr>
          <a:xfrm>
            <a:off x="5436096" y="1667907"/>
            <a:ext cx="971351" cy="937647"/>
            <a:chOff x="4028330" y="1675656"/>
            <a:chExt cx="971351" cy="937647"/>
          </a:xfrm>
        </p:grpSpPr>
        <p:pic>
          <p:nvPicPr>
            <p:cNvPr id="6" name="Grafik 5" descr="Gehirn Silhouette">
              <a:extLst>
                <a:ext uri="{FF2B5EF4-FFF2-40B4-BE49-F238E27FC236}">
                  <a16:creationId xmlns:a16="http://schemas.microsoft.com/office/drawing/2014/main" id="{5E5CB0AE-0DA4-689B-CCF1-29E2459D6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67981" y="1675656"/>
              <a:ext cx="692051" cy="692051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973C283D-271C-72D2-B4BE-6A835F7E642F}"/>
                </a:ext>
              </a:extLst>
            </p:cNvPr>
            <p:cNvSpPr txBox="1"/>
            <p:nvPr/>
          </p:nvSpPr>
          <p:spPr>
            <a:xfrm>
              <a:off x="4028330" y="2243971"/>
              <a:ext cx="971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LLM</a:t>
              </a:r>
            </a:p>
          </p:txBody>
        </p:sp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0CE80CCD-BFE0-A16F-E297-4D18C28CAB4D}"/>
              </a:ext>
            </a:extLst>
          </p:cNvPr>
          <p:cNvSpPr/>
          <p:nvPr/>
        </p:nvSpPr>
        <p:spPr>
          <a:xfrm>
            <a:off x="7596336" y="1849086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Output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5E9455A-5CB7-8A7B-7A99-C7B1BF08413B}"/>
              </a:ext>
            </a:extLst>
          </p:cNvPr>
          <p:cNvSpPr/>
          <p:nvPr/>
        </p:nvSpPr>
        <p:spPr>
          <a:xfrm>
            <a:off x="1691680" y="3510195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ErrorRuleRetriever</a:t>
            </a:r>
            <a:endParaRPr lang="de-DE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AD00896-0693-ACDD-60B2-61C29F438CC1}"/>
              </a:ext>
            </a:extLst>
          </p:cNvPr>
          <p:cNvGrpSpPr/>
          <p:nvPr/>
        </p:nvGrpSpPr>
        <p:grpSpPr>
          <a:xfrm>
            <a:off x="3936613" y="3041790"/>
            <a:ext cx="1648636" cy="1355685"/>
            <a:chOff x="6276014" y="3004109"/>
            <a:chExt cx="1648636" cy="1355685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4C64DB22-82DF-1245-5444-6451EA7DF5C5}"/>
                </a:ext>
              </a:extLst>
            </p:cNvPr>
            <p:cNvGrpSpPr/>
            <p:nvPr/>
          </p:nvGrpSpPr>
          <p:grpSpPr>
            <a:xfrm>
              <a:off x="6622039" y="3329991"/>
              <a:ext cx="971351" cy="1029803"/>
              <a:chOff x="4043095" y="1675656"/>
              <a:chExt cx="971351" cy="1029803"/>
            </a:xfrm>
          </p:grpSpPr>
          <p:pic>
            <p:nvPicPr>
              <p:cNvPr id="22" name="Grafik 21" descr="Dokument Silhouette">
                <a:extLst>
                  <a:ext uri="{FF2B5EF4-FFF2-40B4-BE49-F238E27FC236}">
                    <a16:creationId xmlns:a16="http://schemas.microsoft.com/office/drawing/2014/main" id="{F2564966-EAEB-7EE1-9E96-DF88B01C4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4167981" y="1675656"/>
                <a:ext cx="692051" cy="692051"/>
              </a:xfrm>
              <a:prstGeom prst="rect">
                <a:avLst/>
              </a:prstGeom>
            </p:spPr>
          </p:pic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82B9C5C-C97A-8123-32C5-DB98CF6F3D3E}"/>
                  </a:ext>
                </a:extLst>
              </p:cNvPr>
              <p:cNvSpPr txBox="1"/>
              <p:nvPr/>
            </p:nvSpPr>
            <p:spPr>
              <a:xfrm>
                <a:off x="4043095" y="2336127"/>
                <a:ext cx="9713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dirty="0"/>
                  <a:t>Docs</a:t>
                </a:r>
              </a:p>
            </p:txBody>
          </p:sp>
        </p:grpSp>
        <p:pic>
          <p:nvPicPr>
            <p:cNvPr id="24" name="Grafik 23" descr="Dokument Silhouette">
              <a:extLst>
                <a:ext uri="{FF2B5EF4-FFF2-40B4-BE49-F238E27FC236}">
                  <a16:creationId xmlns:a16="http://schemas.microsoft.com/office/drawing/2014/main" id="{D29D12B3-9F93-1110-21CC-AB9E86129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232599" y="3107902"/>
              <a:ext cx="692051" cy="692051"/>
            </a:xfrm>
            <a:prstGeom prst="rect">
              <a:avLst/>
            </a:prstGeom>
          </p:spPr>
        </p:pic>
        <p:pic>
          <p:nvPicPr>
            <p:cNvPr id="25" name="Grafik 24" descr="Dokument Silhouette">
              <a:extLst>
                <a:ext uri="{FF2B5EF4-FFF2-40B4-BE49-F238E27FC236}">
                  <a16:creationId xmlns:a16="http://schemas.microsoft.com/office/drawing/2014/main" id="{1E747703-F320-B4EF-CABB-DE1549587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276014" y="3004109"/>
              <a:ext cx="692051" cy="692051"/>
            </a:xfrm>
            <a:prstGeom prst="rect">
              <a:avLst/>
            </a:prstGeom>
          </p:spPr>
        </p:pic>
      </p:grp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B0162EF-3224-93D3-4970-CE9F93FC5C2C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2915816" y="3798227"/>
            <a:ext cx="11213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C3D2E7A0-448E-49D5-9EE6-6661A11E95F8}"/>
              </a:ext>
            </a:extLst>
          </p:cNvPr>
          <p:cNvCxnSpPr>
            <a:cxnSpLocks/>
            <a:stCxn id="20" idx="0"/>
            <a:endCxn id="4" idx="2"/>
          </p:cNvCxnSpPr>
          <p:nvPr/>
        </p:nvCxnSpPr>
        <p:spPr>
          <a:xfrm flipV="1">
            <a:off x="2303748" y="2420888"/>
            <a:ext cx="1327870" cy="10893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7486DC12-52E0-3E43-EA51-5BC714431D1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582911" y="2132856"/>
            <a:ext cx="14366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D666638-6085-5864-D099-71021B4FE9A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243686" y="2132856"/>
            <a:ext cx="11924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27AD3133-9340-C59E-8BF2-FACD38B03F5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292393" y="2137118"/>
            <a:ext cx="1303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723E07B3-A7C4-8F60-9084-E22BB6B3F06C}"/>
              </a:ext>
            </a:extLst>
          </p:cNvPr>
          <p:cNvSpPr txBox="1"/>
          <p:nvPr/>
        </p:nvSpPr>
        <p:spPr>
          <a:xfrm>
            <a:off x="1640241" y="1496955"/>
            <a:ext cx="123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User Query </a:t>
            </a:r>
            <a:r>
              <a:rPr lang="de-DE" sz="1200" dirty="0" err="1"/>
              <a:t>with</a:t>
            </a:r>
            <a:r>
              <a:rPr lang="de-DE" sz="1200" dirty="0"/>
              <a:t> XML and Description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01BAF27E-9270-4D8C-7A33-9149AE84F2DD}"/>
              </a:ext>
            </a:extLst>
          </p:cNvPr>
          <p:cNvSpPr txBox="1"/>
          <p:nvPr/>
        </p:nvSpPr>
        <p:spPr>
          <a:xfrm>
            <a:off x="680611" y="2636859"/>
            <a:ext cx="1178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User </a:t>
            </a:r>
            <a:br>
              <a:rPr lang="de-DE" sz="1200" dirty="0"/>
            </a:br>
            <a:r>
              <a:rPr lang="de-DE" sz="1200" dirty="0"/>
              <a:t>Query </a:t>
            </a:r>
            <a:r>
              <a:rPr lang="de-DE" sz="1200" dirty="0" err="1"/>
              <a:t>with</a:t>
            </a:r>
            <a:r>
              <a:rPr lang="de-DE" sz="1200" dirty="0"/>
              <a:t> Error-Type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CB76FFF6-0A00-1B10-4EB9-3026A4AC5330}"/>
              </a:ext>
            </a:extLst>
          </p:cNvPr>
          <p:cNvCxnSpPr>
            <a:cxnSpLocks/>
            <a:stCxn id="3" idx="2"/>
            <a:endCxn id="20" idx="0"/>
          </p:cNvCxnSpPr>
          <p:nvPr/>
        </p:nvCxnSpPr>
        <p:spPr>
          <a:xfrm>
            <a:off x="970843" y="2420888"/>
            <a:ext cx="1332905" cy="10893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120" name="Textfeld 5119">
            <a:extLst>
              <a:ext uri="{FF2B5EF4-FFF2-40B4-BE49-F238E27FC236}">
                <a16:creationId xmlns:a16="http://schemas.microsoft.com/office/drawing/2014/main" id="{CAE9C3B1-5883-89C8-68EF-5AC30FF2C326}"/>
              </a:ext>
            </a:extLst>
          </p:cNvPr>
          <p:cNvSpPr txBox="1"/>
          <p:nvPr/>
        </p:nvSpPr>
        <p:spPr>
          <a:xfrm>
            <a:off x="2411760" y="2590693"/>
            <a:ext cx="11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Relevant</a:t>
            </a:r>
            <a:br>
              <a:rPr lang="de-DE" sz="1200" dirty="0"/>
            </a:br>
            <a:r>
              <a:rPr lang="de-DE" sz="1200" dirty="0"/>
              <a:t>Rules</a:t>
            </a:r>
          </a:p>
        </p:txBody>
      </p:sp>
      <p:sp>
        <p:nvSpPr>
          <p:cNvPr id="5121" name="Textfeld 5120">
            <a:extLst>
              <a:ext uri="{FF2B5EF4-FFF2-40B4-BE49-F238E27FC236}">
                <a16:creationId xmlns:a16="http://schemas.microsoft.com/office/drawing/2014/main" id="{23B52C60-5516-6D73-25B4-3FDC90B244C6}"/>
              </a:ext>
            </a:extLst>
          </p:cNvPr>
          <p:cNvSpPr txBox="1"/>
          <p:nvPr/>
        </p:nvSpPr>
        <p:spPr>
          <a:xfrm>
            <a:off x="2941843" y="3329821"/>
            <a:ext cx="1175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Rules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Metadata</a:t>
            </a:r>
            <a:endParaRPr lang="de-DE" sz="1200" dirty="0"/>
          </a:p>
          <a:p>
            <a:endParaRPr lang="de-DE" sz="1200" dirty="0"/>
          </a:p>
        </p:txBody>
      </p:sp>
      <p:sp>
        <p:nvSpPr>
          <p:cNvPr id="5125" name="Textfeld 5124">
            <a:extLst>
              <a:ext uri="{FF2B5EF4-FFF2-40B4-BE49-F238E27FC236}">
                <a16:creationId xmlns:a16="http://schemas.microsoft.com/office/drawing/2014/main" id="{15FCF5E0-1EA0-7BDA-392A-EBBCA3521602}"/>
              </a:ext>
            </a:extLst>
          </p:cNvPr>
          <p:cNvSpPr txBox="1"/>
          <p:nvPr/>
        </p:nvSpPr>
        <p:spPr>
          <a:xfrm>
            <a:off x="4330472" y="1642839"/>
            <a:ext cx="11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Query +</a:t>
            </a:r>
            <a:br>
              <a:rPr lang="de-DE" sz="1200" dirty="0"/>
            </a:br>
            <a:r>
              <a:rPr lang="de-DE" sz="1200" dirty="0"/>
              <a:t>Rules</a:t>
            </a:r>
          </a:p>
        </p:txBody>
      </p:sp>
      <p:sp>
        <p:nvSpPr>
          <p:cNvPr id="5126" name="Textfeld 5125">
            <a:extLst>
              <a:ext uri="{FF2B5EF4-FFF2-40B4-BE49-F238E27FC236}">
                <a16:creationId xmlns:a16="http://schemas.microsoft.com/office/drawing/2014/main" id="{7688C326-336B-FC5E-3E91-3A87FE162B2F}"/>
              </a:ext>
            </a:extLst>
          </p:cNvPr>
          <p:cNvSpPr txBox="1"/>
          <p:nvPr/>
        </p:nvSpPr>
        <p:spPr>
          <a:xfrm>
            <a:off x="6449969" y="182738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80071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3040-EDEE-A083-D481-9E257767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">
            <a:extLst>
              <a:ext uri="{FF2B5EF4-FFF2-40B4-BE49-F238E27FC236}">
                <a16:creationId xmlns:a16="http://schemas.microsoft.com/office/drawing/2014/main" id="{EEE3928C-AF36-1353-5D74-32895209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2 Code</a:t>
            </a:r>
          </a:p>
        </p:txBody>
      </p:sp>
      <p:sp>
        <p:nvSpPr>
          <p:cNvPr id="6147" name="Inhaltsplatzhalter 2">
            <a:extLst>
              <a:ext uri="{FF2B5EF4-FFF2-40B4-BE49-F238E27FC236}">
                <a16:creationId xmlns:a16="http://schemas.microsoft.com/office/drawing/2014/main" id="{4A241EC0-D300-3176-CFDB-BB9F86886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AutoNum type="arabicPeriod"/>
            </a:pPr>
            <a:r>
              <a:rPr lang="de-DE" altLang="de-DE" dirty="0"/>
              <a:t>Do all Imports</a:t>
            </a:r>
          </a:p>
          <a:p>
            <a:pPr marL="457200" indent="-457200" eaLnBrk="1" hangingPunct="1">
              <a:buAutoNum type="arabicPeriod"/>
            </a:pPr>
            <a:r>
              <a:rPr lang="de-DE" altLang="de-DE" dirty="0"/>
              <a:t>Custom Retriever: </a:t>
            </a:r>
            <a:r>
              <a:rPr lang="de-DE" altLang="de-DE" dirty="0" err="1"/>
              <a:t>rule</a:t>
            </a:r>
            <a:r>
              <a:rPr lang="de-DE" altLang="de-DE" dirty="0"/>
              <a:t> </a:t>
            </a:r>
            <a:r>
              <a:rPr lang="de-DE" altLang="de-DE" dirty="0" err="1"/>
              <a:t>based</a:t>
            </a:r>
            <a:endParaRPr lang="de-DE" altLang="de-DE" dirty="0"/>
          </a:p>
          <a:p>
            <a:pPr marL="457200" indent="-457200" eaLnBrk="1" hangingPunct="1">
              <a:buAutoNum type="arabicPeriod"/>
            </a:pPr>
            <a:r>
              <a:rPr lang="de-DE" altLang="de-DE" dirty="0" err="1"/>
              <a:t>Document</a:t>
            </a:r>
            <a:r>
              <a:rPr lang="de-DE" altLang="de-DE" dirty="0"/>
              <a:t> Store: </a:t>
            </a:r>
            <a:r>
              <a:rPr lang="de-DE" altLang="de-DE" dirty="0" err="1"/>
              <a:t>filled</a:t>
            </a:r>
            <a:r>
              <a:rPr lang="de-DE" altLang="de-DE" dirty="0"/>
              <a:t> </a:t>
            </a:r>
            <a:r>
              <a:rPr lang="de-DE" altLang="de-DE" dirty="0" err="1"/>
              <a:t>with</a:t>
            </a:r>
            <a:r>
              <a:rPr lang="de-DE" altLang="de-DE" dirty="0"/>
              <a:t> </a:t>
            </a:r>
            <a:r>
              <a:rPr lang="de-DE" altLang="de-DE" dirty="0" err="1"/>
              <a:t>rules</a:t>
            </a:r>
            <a:endParaRPr lang="de-DE" altLang="de-DE" dirty="0"/>
          </a:p>
          <a:p>
            <a:pPr marL="457200" indent="-457200" eaLnBrk="1" hangingPunct="1">
              <a:buAutoNum type="arabicPeriod"/>
            </a:pPr>
            <a:r>
              <a:rPr lang="de-DE" altLang="de-DE" dirty="0"/>
              <a:t>Prompt </a:t>
            </a:r>
            <a:r>
              <a:rPr lang="de-DE" altLang="de-DE" dirty="0" err="1"/>
              <a:t>Builder</a:t>
            </a:r>
            <a:r>
              <a:rPr lang="de-DE" altLang="de-DE" dirty="0"/>
              <a:t>: </a:t>
            </a:r>
            <a:r>
              <a:rPr lang="de-DE" altLang="de-DE" dirty="0" err="1"/>
              <a:t>include</a:t>
            </a:r>
            <a:r>
              <a:rPr lang="de-DE" altLang="de-DE" dirty="0"/>
              <a:t> Model, Text, </a:t>
            </a:r>
            <a:r>
              <a:rPr lang="de-DE" altLang="de-DE" dirty="0" err="1"/>
              <a:t>Document</a:t>
            </a:r>
            <a:r>
              <a:rPr lang="de-DE" altLang="de-DE" dirty="0"/>
              <a:t> Store </a:t>
            </a:r>
            <a:r>
              <a:rPr lang="de-DE" altLang="de-DE" dirty="0" err="1"/>
              <a:t>with</a:t>
            </a:r>
            <a:r>
              <a:rPr lang="de-DE" altLang="de-DE" dirty="0"/>
              <a:t> </a:t>
            </a:r>
            <a:r>
              <a:rPr lang="de-DE" altLang="de-DE" dirty="0" err="1"/>
              <a:t>Instructions</a:t>
            </a:r>
            <a:r>
              <a:rPr lang="de-DE" altLang="de-DE" dirty="0"/>
              <a:t> and Target</a:t>
            </a:r>
          </a:p>
          <a:p>
            <a:pPr marL="457200" indent="-457200" eaLnBrk="1" hangingPunct="1">
              <a:buAutoNum type="arabicPeriod"/>
            </a:pPr>
            <a:r>
              <a:rPr lang="de-DE" altLang="de-DE" dirty="0"/>
              <a:t>Generator: </a:t>
            </a:r>
            <a:r>
              <a:rPr lang="de-DE" altLang="de-DE" dirty="0" err="1"/>
              <a:t>Ollama</a:t>
            </a:r>
            <a:r>
              <a:rPr lang="de-DE" altLang="de-DE" dirty="0"/>
              <a:t> 3.2</a:t>
            </a:r>
          </a:p>
          <a:p>
            <a:pPr marL="457200" indent="-457200" eaLnBrk="1" hangingPunct="1">
              <a:buAutoNum type="arabicPeriod"/>
            </a:pPr>
            <a:r>
              <a:rPr lang="de-DE" altLang="de-DE" dirty="0"/>
              <a:t>Assembling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pipeline</a:t>
            </a:r>
            <a:r>
              <a:rPr lang="de-DE" altLang="de-DE" dirty="0"/>
              <a:t>: Components</a:t>
            </a:r>
          </a:p>
          <a:p>
            <a:pPr marL="457200" indent="-457200" eaLnBrk="1" hangingPunct="1">
              <a:buAutoNum type="arabicPeriod"/>
            </a:pPr>
            <a:r>
              <a:rPr lang="de-DE" altLang="de-DE" dirty="0" err="1"/>
              <a:t>Execution</a:t>
            </a:r>
            <a:r>
              <a:rPr lang="de-DE" altLang="de-DE" dirty="0"/>
              <a:t>/ Pipeline Run</a:t>
            </a:r>
          </a:p>
        </p:txBody>
      </p:sp>
      <p:sp>
        <p:nvSpPr>
          <p:cNvPr id="6148" name="Fußzeilenplatzhalter 3">
            <a:extLst>
              <a:ext uri="{FF2B5EF4-FFF2-40B4-BE49-F238E27FC236}">
                <a16:creationId xmlns:a16="http://schemas.microsoft.com/office/drawing/2014/main" id="{38B4AB7A-10DA-F437-B303-F756C34399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FDA949-4A5E-414F-9531-F551BE1D8AF8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A047C4D3-4B70-2840-8E1D-4696901EAD26}" type="slidenum">
              <a:rPr lang="de-DE" altLang="de-DE"/>
              <a:pPr eaLnBrk="1" hangingPunct="1"/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1203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>
            <a:extLst>
              <a:ext uri="{FF2B5EF4-FFF2-40B4-BE49-F238E27FC236}">
                <a16:creationId xmlns:a16="http://schemas.microsoft.com/office/drawing/2014/main" id="{4F398221-6BF7-FB83-972B-60E325A6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 </a:t>
            </a:r>
            <a:r>
              <a:rPr lang="de-DE" altLang="de-DE" dirty="0" err="1"/>
              <a:t>Result</a:t>
            </a:r>
            <a:r>
              <a:rPr lang="de-DE" altLang="de-DE" dirty="0"/>
              <a:t> (1/3): </a:t>
            </a:r>
            <a:r>
              <a:rPr lang="de-DE" altLang="de-DE" dirty="0" err="1"/>
              <a:t>Missing</a:t>
            </a:r>
            <a:r>
              <a:rPr lang="de-DE" altLang="de-DE" dirty="0"/>
              <a:t> Task</a:t>
            </a:r>
          </a:p>
        </p:txBody>
      </p:sp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A89E60D2-A60B-BA77-6C25-9A2A7B991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556792"/>
            <a:ext cx="6591300" cy="1676400"/>
          </a:xfrm>
          <a:prstGeom prst="rect">
            <a:avLst/>
          </a:prstGeom>
        </p:spPr>
      </p:pic>
      <p:sp>
        <p:nvSpPr>
          <p:cNvPr id="7172" name="Fußzeilenplatzhalter 3">
            <a:extLst>
              <a:ext uri="{FF2B5EF4-FFF2-40B4-BE49-F238E27FC236}">
                <a16:creationId xmlns:a16="http://schemas.microsoft.com/office/drawing/2014/main" id="{E924A9D7-B055-EB5A-8AD0-E07EE83444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578EE9-40C8-7941-934F-033E455B9A6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C5698809-C55A-744C-99BF-34890FA169A5}" type="slidenum">
              <a:rPr lang="de-DE" altLang="de-DE"/>
              <a:pPr eaLnBrk="1" hangingPunct="1"/>
              <a:t>11</a:t>
            </a:fld>
            <a:endParaRPr lang="de-DE" alt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6982BD5-5C68-1FF7-E56F-6238DC7874D5}"/>
              </a:ext>
            </a:extLst>
          </p:cNvPr>
          <p:cNvSpPr txBox="1"/>
          <p:nvPr/>
        </p:nvSpPr>
        <p:spPr>
          <a:xfrm>
            <a:off x="1860784" y="3233192"/>
            <a:ext cx="57254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Wrong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dirty="0">
                <a:effectLst/>
                <a:cs typeface="Arial" panose="020B0604020202020204" pitchFamily="34" charset="0"/>
              </a:rPr>
              <a:t>The passenger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arrives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at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terminal.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>
                <a:effectLst/>
                <a:cs typeface="Arial" panose="020B0604020202020204" pitchFamily="34" charset="0"/>
              </a:rPr>
              <a:t>First,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they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proceed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to</a:t>
            </a:r>
            <a:r>
              <a:rPr lang="de-DE" sz="1200" b="0" dirty="0">
                <a:effectLst/>
                <a:cs typeface="Arial" panose="020B0604020202020204" pitchFamily="34" charset="0"/>
              </a:rPr>
              <a:t> Check-in at Counter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to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drop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their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bags</a:t>
            </a:r>
            <a:r>
              <a:rPr lang="de-DE" sz="1200" b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 err="1">
                <a:effectLst/>
                <a:cs typeface="Arial" panose="020B0604020202020204" pitchFamily="34" charset="0"/>
              </a:rPr>
              <a:t>Finally</a:t>
            </a:r>
            <a:r>
              <a:rPr lang="de-DE" sz="1200" b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Passenger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ready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to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board</a:t>
            </a:r>
            <a:r>
              <a:rPr lang="de-DE" sz="1200" b="0" dirty="0">
                <a:effectLst/>
                <a:cs typeface="Arial" panose="020B0604020202020204" pitchFamily="34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45BC853-1253-1C1B-6A59-0EFFCD640D98}"/>
              </a:ext>
            </a:extLst>
          </p:cNvPr>
          <p:cNvSpPr txBox="1"/>
          <p:nvPr/>
        </p:nvSpPr>
        <p:spPr>
          <a:xfrm>
            <a:off x="1244807" y="4220523"/>
            <a:ext cx="6654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Corrected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>
                <a:effectLst/>
                <a:cs typeface="Arial" panose="020B0604020202020204" pitchFamily="34" charset="0"/>
              </a:rPr>
              <a:t>The passenger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arrives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at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terminal. </a:t>
            </a:r>
            <a:br>
              <a:rPr lang="de-DE" sz="1200" b="0" i="0" dirty="0">
                <a:effectLst/>
                <a:cs typeface="Arial" panose="020B0604020202020204" pitchFamily="34" charset="0"/>
              </a:rPr>
            </a:br>
            <a:r>
              <a:rPr lang="de-DE" sz="1200" b="0" i="0" dirty="0">
                <a:effectLst/>
                <a:cs typeface="Arial" panose="020B0604020202020204" pitchFamily="34" charset="0"/>
              </a:rPr>
              <a:t>First,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proceed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to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Check-in at Counter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to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drop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their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bags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and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then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undergo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security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checks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.</a:t>
            </a:r>
            <a:b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</a:br>
            <a:r>
              <a:rPr lang="de-DE" sz="1200" b="0" i="0" dirty="0" err="1">
                <a:effectLst/>
                <a:cs typeface="Arial" panose="020B0604020202020204" pitchFamily="34" charset="0"/>
              </a:rPr>
              <a:t>Finally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Passenger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ready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to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board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</a:t>
            </a:r>
            <a:endParaRPr lang="de-DE" sz="1200" dirty="0"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0FA65F9-7D4B-6D2E-876A-17C33BF38CC1}"/>
              </a:ext>
            </a:extLst>
          </p:cNvPr>
          <p:cNvSpPr txBox="1"/>
          <p:nvPr/>
        </p:nvSpPr>
        <p:spPr>
          <a:xfrm>
            <a:off x="1695250" y="5338341"/>
            <a:ext cx="5753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Result</a:t>
            </a:r>
            <a:r>
              <a:rPr lang="de-DE" sz="1200" dirty="0">
                <a:cs typeface="Arial" panose="020B0604020202020204" pitchFamily="34" charset="0"/>
              </a:rPr>
              <a:t>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>
                <a:effectLst/>
                <a:cs typeface="Arial" panose="020B0604020202020204" pitchFamily="34" charset="0"/>
              </a:rPr>
              <a:t>100%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correct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nothing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wrongly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added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or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changed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just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addition</a:t>
            </a:r>
            <a:r>
              <a:rPr lang="de-DE" sz="1200" dirty="0">
                <a:cs typeface="Arial" panose="020B0604020202020204" pitchFamily="34" charset="0"/>
              </a:rPr>
              <a:t> „</a:t>
            </a:r>
            <a:r>
              <a:rPr lang="de-DE" sz="1200" dirty="0" err="1">
                <a:cs typeface="Arial" panose="020B0604020202020204" pitchFamily="34" charset="0"/>
              </a:rPr>
              <a:t>security</a:t>
            </a:r>
            <a:r>
              <a:rPr lang="de-DE" sz="1200" dirty="0">
                <a:cs typeface="Arial" panose="020B0604020202020204" pitchFamily="34" charset="0"/>
              </a:rPr>
              <a:t> check“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20ECF3CE-F8E9-97D3-3211-972A359A077C}"/>
                  </a:ext>
                </a:extLst>
              </p14:cNvPr>
              <p14:cNvContentPartPr/>
              <p14:nvPr/>
            </p14:nvContentPartPr>
            <p14:xfrm>
              <a:off x="1384176" y="5345352"/>
              <a:ext cx="538920" cy="5439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20ECF3CE-F8E9-97D3-3211-972A359A07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176" y="5336352"/>
                <a:ext cx="556560" cy="56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17186F1-2394-22AC-4E7E-E488071CB9BB}"/>
              </a:ext>
            </a:extLst>
          </p:cNvPr>
          <p:cNvGrpSpPr/>
          <p:nvPr/>
        </p:nvGrpSpPr>
        <p:grpSpPr>
          <a:xfrm>
            <a:off x="5920835" y="1888136"/>
            <a:ext cx="252000" cy="255960"/>
            <a:chOff x="5920835" y="1888136"/>
            <a:chExt cx="25200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46EA4AE3-C6F2-4010-6C85-CA21E0E1D90F}"/>
                    </a:ext>
                  </a:extLst>
                </p14:cNvPr>
                <p14:cNvContentPartPr/>
                <p14:nvPr/>
              </p14:nvContentPartPr>
              <p14:xfrm>
                <a:off x="5928395" y="1888136"/>
                <a:ext cx="244440" cy="255960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46EA4AE3-C6F2-4010-6C85-CA21E0E1D9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19755" y="1879136"/>
                  <a:ext cx="262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AD9EE8F6-B568-F4DF-70E5-A27074B66E82}"/>
                    </a:ext>
                  </a:extLst>
                </p14:cNvPr>
                <p14:cNvContentPartPr/>
                <p14:nvPr/>
              </p14:nvContentPartPr>
              <p14:xfrm>
                <a:off x="5920835" y="1891376"/>
                <a:ext cx="209160" cy="24660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AD9EE8F6-B568-F4DF-70E5-A27074B66E8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12195" y="1882736"/>
                  <a:ext cx="226800" cy="264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656E-EA2C-1D8D-69FF-A66195C6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>
            <a:extLst>
              <a:ext uri="{FF2B5EF4-FFF2-40B4-BE49-F238E27FC236}">
                <a16:creationId xmlns:a16="http://schemas.microsoft.com/office/drawing/2014/main" id="{717CEC4C-E1BE-125A-B768-CAF2AC74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 </a:t>
            </a:r>
            <a:r>
              <a:rPr lang="de-DE" altLang="de-DE" dirty="0" err="1"/>
              <a:t>Result</a:t>
            </a:r>
            <a:r>
              <a:rPr lang="de-DE" altLang="de-DE" dirty="0"/>
              <a:t> (2/3): </a:t>
            </a:r>
            <a:r>
              <a:rPr lang="de-DE" altLang="de-DE" dirty="0" err="1"/>
              <a:t>Missing</a:t>
            </a:r>
            <a:r>
              <a:rPr lang="de-DE" altLang="de-DE" dirty="0"/>
              <a:t> Gateway</a:t>
            </a:r>
          </a:p>
        </p:txBody>
      </p:sp>
      <p:sp>
        <p:nvSpPr>
          <p:cNvPr id="7172" name="Fußzeilenplatzhalter 3">
            <a:extLst>
              <a:ext uri="{FF2B5EF4-FFF2-40B4-BE49-F238E27FC236}">
                <a16:creationId xmlns:a16="http://schemas.microsoft.com/office/drawing/2014/main" id="{F7A2AB5F-DC86-8A18-3851-329259E231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578EE9-40C8-7941-934F-033E455B9A6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C5698809-C55A-744C-99BF-34890FA169A5}" type="slidenum">
              <a:rPr lang="de-DE" altLang="de-DE"/>
              <a:pPr eaLnBrk="1" hangingPunct="1"/>
              <a:t>12</a:t>
            </a:fld>
            <a:endParaRPr lang="de-DE" alt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708A21E-73B4-F177-3F26-B7C4DAF72F48}"/>
              </a:ext>
            </a:extLst>
          </p:cNvPr>
          <p:cNvSpPr txBox="1"/>
          <p:nvPr/>
        </p:nvSpPr>
        <p:spPr>
          <a:xfrm>
            <a:off x="3085062" y="3869224"/>
            <a:ext cx="32768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Wrong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dirty="0" err="1"/>
              <a:t>When</a:t>
            </a:r>
            <a:r>
              <a:rPr lang="de-DE" sz="1200" dirty="0"/>
              <a:t> a </a:t>
            </a:r>
            <a:r>
              <a:rPr lang="de-DE" sz="1200" dirty="0" err="1"/>
              <a:t>trip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planned, </a:t>
            </a:r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first</a:t>
            </a:r>
            <a:r>
              <a:rPr lang="de-DE" sz="1200" dirty="0"/>
              <a:t> Book Flight. </a:t>
            </a:r>
            <a:br>
              <a:rPr lang="de-DE" sz="1200" dirty="0"/>
            </a:br>
            <a:r>
              <a:rPr lang="de-DE" sz="1200" dirty="0"/>
              <a:t>After </a:t>
            </a:r>
            <a:r>
              <a:rPr lang="de-DE" sz="1200" dirty="0" err="1"/>
              <a:t>that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done</a:t>
            </a:r>
            <a:r>
              <a:rPr lang="de-DE" sz="1200" dirty="0"/>
              <a:t>, </a:t>
            </a:r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proceed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Book Hotel. </a:t>
            </a:r>
            <a:br>
              <a:rPr lang="de-DE" sz="1200" dirty="0"/>
            </a:br>
            <a:r>
              <a:rPr lang="de-DE" sz="1200" dirty="0" err="1"/>
              <a:t>Finally</a:t>
            </a:r>
            <a:r>
              <a:rPr lang="de-DE" sz="1200" dirty="0"/>
              <a:t>,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trip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ready</a:t>
            </a:r>
            <a:r>
              <a:rPr lang="de-DE" sz="1200" dirty="0"/>
              <a:t>.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AD7581C-417B-0BF9-3DFE-C343EBF3C527}"/>
              </a:ext>
            </a:extLst>
          </p:cNvPr>
          <p:cNvSpPr txBox="1"/>
          <p:nvPr/>
        </p:nvSpPr>
        <p:spPr>
          <a:xfrm>
            <a:off x="1906847" y="4856555"/>
            <a:ext cx="5330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Corrected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 err="1">
                <a:effectLst/>
                <a:cs typeface="Arial" panose="020B0604020202020204" pitchFamily="34" charset="0"/>
              </a:rPr>
              <a:t>When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a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trip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planned,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first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Book Flight and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simultaneously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Book Hotel. </a:t>
            </a:r>
            <a:br>
              <a:rPr lang="de-DE" sz="1200" b="0" i="0" dirty="0">
                <a:effectLst/>
                <a:cs typeface="Arial" panose="020B0604020202020204" pitchFamily="34" charset="0"/>
              </a:rPr>
            </a:br>
            <a:r>
              <a:rPr lang="de-DE" sz="1200" b="0" i="0" dirty="0">
                <a:effectLst/>
                <a:cs typeface="Arial" panose="020B0604020202020204" pitchFamily="34" charset="0"/>
              </a:rPr>
              <a:t>After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both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tasks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are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completed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trip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ready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</a:t>
            </a:r>
            <a:endParaRPr lang="de-DE" sz="1200" dirty="0"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7CDF116-26E9-4CC0-2C94-46DDE78FF086}"/>
              </a:ext>
            </a:extLst>
          </p:cNvPr>
          <p:cNvSpPr txBox="1"/>
          <p:nvPr/>
        </p:nvSpPr>
        <p:spPr>
          <a:xfrm>
            <a:off x="1695249" y="5864007"/>
            <a:ext cx="5753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Result</a:t>
            </a:r>
            <a:r>
              <a:rPr lang="de-DE" sz="1200" dirty="0">
                <a:cs typeface="Arial" panose="020B0604020202020204" pitchFamily="34" charset="0"/>
              </a:rPr>
              <a:t>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>
                <a:effectLst/>
                <a:cs typeface="Arial" panose="020B0604020202020204" pitchFamily="34" charset="0"/>
              </a:rPr>
              <a:t>100%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correct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nothing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wrongly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added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or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changed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just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rewrite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with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parallel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execution</a:t>
            </a:r>
            <a:endParaRPr lang="de-DE" sz="12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48FB7DA-F74F-5EA5-5A53-E3AFB46E1675}"/>
                  </a:ext>
                </a:extLst>
              </p14:cNvPr>
              <p14:cNvContentPartPr/>
              <p14:nvPr/>
            </p14:nvContentPartPr>
            <p14:xfrm>
              <a:off x="1384176" y="5981384"/>
              <a:ext cx="538920" cy="5439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48FB7DA-F74F-5EA5-5A53-E3AFB46E16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5176" y="5972384"/>
                <a:ext cx="556560" cy="561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Grafik 9">
            <a:extLst>
              <a:ext uri="{FF2B5EF4-FFF2-40B4-BE49-F238E27FC236}">
                <a16:creationId xmlns:a16="http://schemas.microsoft.com/office/drawing/2014/main" id="{B58DEC21-3189-4580-D5E0-CB6F5D7F2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404662"/>
            <a:ext cx="4530328" cy="22140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D54E0A32-5148-6956-F04A-E46617E1665D}"/>
                  </a:ext>
                </a:extLst>
              </p14:cNvPr>
              <p14:cNvContentPartPr/>
              <p14:nvPr/>
            </p14:nvContentPartPr>
            <p14:xfrm>
              <a:off x="3714035" y="2133656"/>
              <a:ext cx="185400" cy="2552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D54E0A32-5148-6956-F04A-E46617E166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5035" y="2124656"/>
                <a:ext cx="2030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863E7EBC-AA74-14DD-C9A2-E7BF100256D4}"/>
                  </a:ext>
                </a:extLst>
              </p14:cNvPr>
              <p14:cNvContentPartPr/>
              <p14:nvPr/>
            </p14:nvContentPartPr>
            <p14:xfrm>
              <a:off x="3735995" y="2183696"/>
              <a:ext cx="132120" cy="14724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863E7EBC-AA74-14DD-C9A2-E7BF100256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6995" y="2175056"/>
                <a:ext cx="14976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45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31A6-C42B-3685-C62D-5C8D8C206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>
            <a:extLst>
              <a:ext uri="{FF2B5EF4-FFF2-40B4-BE49-F238E27FC236}">
                <a16:creationId xmlns:a16="http://schemas.microsoft.com/office/drawing/2014/main" id="{93A82470-D14D-177D-72E4-199D12EB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 </a:t>
            </a:r>
            <a:r>
              <a:rPr lang="de-DE" altLang="de-DE" dirty="0" err="1"/>
              <a:t>Result</a:t>
            </a:r>
            <a:r>
              <a:rPr lang="de-DE" altLang="de-DE" dirty="0"/>
              <a:t> (3/3): </a:t>
            </a:r>
            <a:r>
              <a:rPr lang="de-DE" altLang="de-DE" dirty="0" err="1"/>
              <a:t>Hallucinated</a:t>
            </a:r>
            <a:r>
              <a:rPr lang="de-DE" altLang="de-DE" dirty="0"/>
              <a:t> Task</a:t>
            </a:r>
          </a:p>
        </p:txBody>
      </p:sp>
      <p:sp>
        <p:nvSpPr>
          <p:cNvPr id="7172" name="Fußzeilenplatzhalter 3">
            <a:extLst>
              <a:ext uri="{FF2B5EF4-FFF2-40B4-BE49-F238E27FC236}">
                <a16:creationId xmlns:a16="http://schemas.microsoft.com/office/drawing/2014/main" id="{E156A051-90F5-62E7-BC97-4E24EC220C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578EE9-40C8-7941-934F-033E455B9A6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C5698809-C55A-744C-99BF-34890FA169A5}" type="slidenum">
              <a:rPr lang="de-DE" altLang="de-DE"/>
              <a:pPr eaLnBrk="1" hangingPunct="1"/>
              <a:t>13</a:t>
            </a:fld>
            <a:endParaRPr lang="de-DE" alt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F4917D-CD8B-98B8-87B1-0994724E88F4}"/>
              </a:ext>
            </a:extLst>
          </p:cNvPr>
          <p:cNvSpPr txBox="1"/>
          <p:nvPr/>
        </p:nvSpPr>
        <p:spPr>
          <a:xfrm>
            <a:off x="2520803" y="3212976"/>
            <a:ext cx="4405372" cy="1174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Wrong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>
              <a:lnSpc>
                <a:spcPts val="1350"/>
              </a:lnSpc>
            </a:pPr>
            <a:r>
              <a:rPr lang="de-DE" sz="1200" b="0" dirty="0">
                <a:effectLst/>
                <a:cs typeface="Arial" panose="020B0604020202020204" pitchFamily="34" charset="0"/>
              </a:rPr>
              <a:t>The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baggage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handling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process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starts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when</a:t>
            </a:r>
            <a:r>
              <a:rPr lang="de-DE" sz="1200" b="0" dirty="0">
                <a:effectLst/>
                <a:cs typeface="Arial" panose="020B0604020202020204" pitchFamily="34" charset="0"/>
              </a:rPr>
              <a:t> a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bag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received</a:t>
            </a:r>
            <a:r>
              <a:rPr lang="de-DE" sz="1200" b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>
                <a:effectLst/>
                <a:cs typeface="Arial" panose="020B0604020202020204" pitchFamily="34" charset="0"/>
              </a:rPr>
              <a:t>First,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worker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scans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tag. 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Then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, </a:t>
            </a: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they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wrap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bag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 in </a:t>
            </a: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protective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plastic</a:t>
            </a:r>
            <a:r>
              <a:rPr lang="de-DE" sz="1200" b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. 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 err="1">
                <a:effectLst/>
                <a:cs typeface="Arial" panose="020B0604020202020204" pitchFamily="34" charset="0"/>
              </a:rPr>
              <a:t>Then</a:t>
            </a:r>
            <a:r>
              <a:rPr lang="de-DE" sz="1200" b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they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load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it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onto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belt</a:t>
            </a:r>
            <a:r>
              <a:rPr lang="de-DE" sz="1200" b="0" dirty="0">
                <a:effectLst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ts val="1350"/>
              </a:lnSpc>
            </a:pPr>
            <a:r>
              <a:rPr lang="de-DE" sz="1200" dirty="0" err="1">
                <a:cs typeface="Arial" panose="020B0604020202020204" pitchFamily="34" charset="0"/>
              </a:rPr>
              <a:t>Finally</a:t>
            </a:r>
            <a:r>
              <a:rPr lang="de-DE" sz="1200" dirty="0">
                <a:cs typeface="Arial" panose="020B0604020202020204" pitchFamily="34" charset="0"/>
              </a:rPr>
              <a:t>, a </a:t>
            </a:r>
            <a:r>
              <a:rPr lang="de-DE" sz="1200" dirty="0" err="1">
                <a:cs typeface="Arial" panose="020B0604020202020204" pitchFamily="34" charset="0"/>
              </a:rPr>
              <a:t>bag</a:t>
            </a:r>
            <a:r>
              <a:rPr lang="de-DE" sz="1200" dirty="0">
                <a:cs typeface="Arial" panose="020B0604020202020204" pitchFamily="34" charset="0"/>
              </a:rPr>
              <a:t> </a:t>
            </a:r>
            <a:r>
              <a:rPr lang="de-DE" sz="1200" dirty="0" err="1">
                <a:cs typeface="Arial" panose="020B0604020202020204" pitchFamily="34" charset="0"/>
              </a:rPr>
              <a:t>is</a:t>
            </a:r>
            <a:r>
              <a:rPr lang="de-DE" sz="1200" dirty="0">
                <a:cs typeface="Arial" panose="020B0604020202020204" pitchFamily="34" charset="0"/>
              </a:rPr>
              <a:t> </a:t>
            </a:r>
            <a:r>
              <a:rPr lang="de-DE" sz="1200" dirty="0" err="1">
                <a:cs typeface="Arial" panose="020B0604020202020204" pitchFamily="34" charset="0"/>
              </a:rPr>
              <a:t>loaded</a:t>
            </a:r>
            <a:endParaRPr lang="de-DE" sz="1200" b="0" dirty="0">
              <a:effectLst/>
              <a:cs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8DC1226-91F1-3F9F-9AED-70332A61A19D}"/>
              </a:ext>
            </a:extLst>
          </p:cNvPr>
          <p:cNvSpPr txBox="1"/>
          <p:nvPr/>
        </p:nvSpPr>
        <p:spPr>
          <a:xfrm>
            <a:off x="2369311" y="4488339"/>
            <a:ext cx="44053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Corrected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>
                <a:effectLst/>
                <a:cs typeface="Arial" panose="020B0604020202020204" pitchFamily="34" charset="0"/>
              </a:rPr>
              <a:t>The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baggage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handling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process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starts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when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a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bag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received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i="0" dirty="0">
                <a:effectLst/>
                <a:cs typeface="Arial" panose="020B0604020202020204" pitchFamily="34" charset="0"/>
              </a:rPr>
            </a:br>
            <a:r>
              <a:rPr lang="de-DE" sz="1200" b="0" i="0" dirty="0">
                <a:effectLst/>
                <a:cs typeface="Arial" panose="020B0604020202020204" pitchFamily="34" charset="0"/>
              </a:rPr>
              <a:t>First,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scan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tag. </a:t>
            </a:r>
            <a:br>
              <a:rPr lang="de-DE" sz="1200" b="0" i="0" dirty="0">
                <a:effectLst/>
                <a:cs typeface="Arial" panose="020B0604020202020204" pitchFamily="34" charset="0"/>
              </a:rPr>
            </a:br>
            <a:r>
              <a:rPr lang="de-DE" sz="1200" b="0" i="0" dirty="0" err="1">
                <a:effectLst/>
                <a:cs typeface="Arial" panose="020B0604020202020204" pitchFamily="34" charset="0"/>
              </a:rPr>
              <a:t>Then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load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onto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belt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i="0" dirty="0">
                <a:effectLst/>
                <a:cs typeface="Arial" panose="020B0604020202020204" pitchFamily="34" charset="0"/>
              </a:rPr>
            </a:br>
            <a:r>
              <a:rPr lang="de-DE" sz="1200" b="0" i="0" dirty="0" err="1">
                <a:effectLst/>
                <a:cs typeface="Arial" panose="020B0604020202020204" pitchFamily="34" charset="0"/>
              </a:rPr>
              <a:t>Finally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a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bag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loaded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</a:t>
            </a:r>
            <a:endParaRPr lang="de-DE" sz="1200" dirty="0"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6AF5B2-1451-ED52-95FB-16C6E23A2017}"/>
              </a:ext>
            </a:extLst>
          </p:cNvPr>
          <p:cNvSpPr txBox="1"/>
          <p:nvPr/>
        </p:nvSpPr>
        <p:spPr>
          <a:xfrm>
            <a:off x="1695249" y="5495791"/>
            <a:ext cx="5753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Result</a:t>
            </a:r>
            <a:r>
              <a:rPr lang="de-DE" sz="1200" dirty="0">
                <a:cs typeface="Arial" panose="020B0604020202020204" pitchFamily="34" charset="0"/>
              </a:rPr>
              <a:t>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>
                <a:effectLst/>
                <a:cs typeface="Arial" panose="020B0604020202020204" pitchFamily="34" charset="0"/>
              </a:rPr>
              <a:t>100%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correct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nothing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wrongly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added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or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changed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just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rewrite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removing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plastic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protection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(+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not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said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that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any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worker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scans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Tag, so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was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proactively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removed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aswell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whic</a:t>
            </a:r>
            <a:r>
              <a:rPr lang="de-DE" sz="1200" dirty="0" err="1">
                <a:cs typeface="Arial" panose="020B0604020202020204" pitchFamily="34" charset="0"/>
              </a:rPr>
              <a:t>h</a:t>
            </a:r>
            <a:r>
              <a:rPr lang="de-DE" sz="1200" dirty="0">
                <a:cs typeface="Arial" panose="020B0604020202020204" pitchFamily="34" charset="0"/>
              </a:rPr>
              <a:t> I </a:t>
            </a:r>
            <a:r>
              <a:rPr lang="de-DE" sz="1200" dirty="0" err="1">
                <a:cs typeface="Arial" panose="020B0604020202020204" pitchFamily="34" charset="0"/>
              </a:rPr>
              <a:t>did</a:t>
            </a:r>
            <a:r>
              <a:rPr lang="de-DE" sz="1200" dirty="0">
                <a:cs typeface="Arial" panose="020B0604020202020204" pitchFamily="34" charset="0"/>
              </a:rPr>
              <a:t> </a:t>
            </a:r>
            <a:r>
              <a:rPr lang="de-DE" sz="1200" dirty="0" err="1">
                <a:cs typeface="Arial" panose="020B0604020202020204" pitchFamily="34" charset="0"/>
              </a:rPr>
              <a:t>wrongly</a:t>
            </a:r>
            <a:r>
              <a:rPr lang="de-DE" sz="1200" dirty="0">
                <a:cs typeface="Arial" panose="020B0604020202020204" pitchFamily="34" charset="0"/>
              </a:rPr>
              <a:t> in </a:t>
            </a:r>
            <a:r>
              <a:rPr lang="de-DE" sz="1200" dirty="0" err="1">
                <a:cs typeface="Arial" panose="020B0604020202020204" pitchFamily="34" charset="0"/>
              </a:rPr>
              <a:t>the</a:t>
            </a:r>
            <a:r>
              <a:rPr lang="de-DE" sz="1200" dirty="0">
                <a:cs typeface="Arial" panose="020B0604020202020204" pitchFamily="34" charset="0"/>
              </a:rPr>
              <a:t> Description)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1EDE33F3-842A-CE51-357C-BC3E39855E15}"/>
                  </a:ext>
                </a:extLst>
              </p14:cNvPr>
              <p14:cNvContentPartPr/>
              <p14:nvPr/>
            </p14:nvContentPartPr>
            <p14:xfrm>
              <a:off x="1384176" y="5613168"/>
              <a:ext cx="538920" cy="5439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1EDE33F3-842A-CE51-357C-BC3E39855E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5176" y="5604168"/>
                <a:ext cx="556560" cy="5616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Grafik 1">
            <a:extLst>
              <a:ext uri="{FF2B5EF4-FFF2-40B4-BE49-F238E27FC236}">
                <a16:creationId xmlns:a16="http://schemas.microsoft.com/office/drawing/2014/main" id="{73A06D29-5AAD-FAA2-5D04-69D16FE32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240" y="1542452"/>
            <a:ext cx="63627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2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59C5-B2DD-BF27-885C-CB857C40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>
            <a:extLst>
              <a:ext uri="{FF2B5EF4-FFF2-40B4-BE49-F238E27FC236}">
                <a16:creationId xmlns:a16="http://schemas.microsoft.com/office/drawing/2014/main" id="{4E5A8D0F-E648-49EF-6178-9A905407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4 Critics: </a:t>
            </a:r>
            <a:r>
              <a:rPr lang="de-DE" altLang="de-DE" dirty="0" err="1"/>
              <a:t>Only</a:t>
            </a:r>
            <a:r>
              <a:rPr lang="de-DE" altLang="de-DE" dirty="0"/>
              <a:t> </a:t>
            </a:r>
            <a:r>
              <a:rPr lang="de-DE" altLang="de-DE" dirty="0" err="1"/>
              <a:t>small</a:t>
            </a:r>
            <a:r>
              <a:rPr lang="de-DE" altLang="de-DE" dirty="0"/>
              <a:t> BPMN Models – Add On</a:t>
            </a:r>
          </a:p>
        </p:txBody>
      </p:sp>
      <p:sp>
        <p:nvSpPr>
          <p:cNvPr id="7172" name="Fußzeilenplatzhalter 3">
            <a:extLst>
              <a:ext uri="{FF2B5EF4-FFF2-40B4-BE49-F238E27FC236}">
                <a16:creationId xmlns:a16="http://schemas.microsoft.com/office/drawing/2014/main" id="{379788F2-6C9D-9550-3341-26CD3CB89A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578EE9-40C8-7941-934F-033E455B9A6B}" type="datetime1">
              <a:rPr lang="de-DE" altLang="de-DE"/>
              <a:pPr eaLnBrk="1" hangingPunct="1"/>
              <a:t>11.01.2026</a:t>
            </a:fld>
            <a:r>
              <a:rPr lang="de-DE" altLang="de-DE" dirty="0"/>
              <a:t> | </a:t>
            </a:r>
            <a:fld id="{C5698809-C55A-744C-99BF-34890FA169A5}" type="slidenum">
              <a:rPr lang="de-DE" altLang="de-DE"/>
              <a:pPr eaLnBrk="1" hangingPunct="1"/>
              <a:t>14</a:t>
            </a:fld>
            <a:endParaRPr lang="de-DE" alt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5E8CAC7-D916-B897-1B06-BAC97CEE1F4E}"/>
              </a:ext>
            </a:extLst>
          </p:cNvPr>
          <p:cNvSpPr txBox="1"/>
          <p:nvPr/>
        </p:nvSpPr>
        <p:spPr>
          <a:xfrm>
            <a:off x="1111764" y="4162310"/>
            <a:ext cx="7223452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Wrong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>
              <a:lnSpc>
                <a:spcPts val="1350"/>
              </a:lnSpc>
            </a:pPr>
            <a:r>
              <a:rPr lang="de-DE" sz="1200" b="0" dirty="0">
                <a:effectLst/>
                <a:cs typeface="Arial" panose="020B0604020202020204" pitchFamily="34" charset="0"/>
              </a:rPr>
              <a:t>As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soon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aircraft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arrives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at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gate</a:t>
            </a:r>
            <a:r>
              <a:rPr lang="de-DE" sz="1200" b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passengers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de-board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immediately</a:t>
            </a:r>
            <a:r>
              <a:rPr lang="de-DE" sz="1200" b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 err="1">
                <a:effectLst/>
                <a:cs typeface="Arial" panose="020B0604020202020204" pitchFamily="34" charset="0"/>
              </a:rPr>
              <a:t>While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ground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crew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refuels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aircraft</a:t>
            </a:r>
            <a:r>
              <a:rPr lang="de-DE" sz="1200" b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flight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attendants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prepare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for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next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flight</a:t>
            </a:r>
            <a:r>
              <a:rPr lang="de-DE" sz="1200" b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dirty="0">
                <a:effectLst/>
                <a:cs typeface="Arial" panose="020B0604020202020204" pitchFamily="34" charset="0"/>
              </a:rPr>
            </a:br>
            <a:r>
              <a:rPr lang="de-DE" sz="1200" b="0" dirty="0" err="1">
                <a:effectLst/>
                <a:cs typeface="Arial" panose="020B0604020202020204" pitchFamily="34" charset="0"/>
              </a:rPr>
              <a:t>Once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refueling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complete</a:t>
            </a:r>
            <a:r>
              <a:rPr lang="de-DE" sz="1200" b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new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passengers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board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plane, and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aircraft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ready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for</a:t>
            </a:r>
            <a:r>
              <a:rPr lang="de-DE" sz="1200" b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dirty="0" err="1">
                <a:effectLst/>
                <a:cs typeface="Arial" panose="020B0604020202020204" pitchFamily="34" charset="0"/>
              </a:rPr>
              <a:t>departure</a:t>
            </a:r>
            <a:r>
              <a:rPr lang="de-DE" sz="1200" b="0" dirty="0">
                <a:effectLst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98F6467-3DF4-315B-D169-F0C75CF400DE}"/>
              </a:ext>
            </a:extLst>
          </p:cNvPr>
          <p:cNvSpPr txBox="1"/>
          <p:nvPr/>
        </p:nvSpPr>
        <p:spPr>
          <a:xfrm>
            <a:off x="762301" y="5149641"/>
            <a:ext cx="7619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 err="1">
                <a:cs typeface="Arial" panose="020B0604020202020204" pitchFamily="34" charset="0"/>
              </a:rPr>
              <a:t>Corrected</a:t>
            </a:r>
            <a:r>
              <a:rPr lang="de-DE" sz="1200" dirty="0">
                <a:cs typeface="Arial" panose="020B0604020202020204" pitchFamily="34" charset="0"/>
              </a:rPr>
              <a:t> Description:</a:t>
            </a:r>
            <a:endParaRPr lang="de-DE" sz="1200" b="0" dirty="0">
              <a:effectLst/>
              <a:cs typeface="Arial" panose="020B0604020202020204" pitchFamily="34" charset="0"/>
            </a:endParaRPr>
          </a:p>
          <a:p>
            <a:pPr algn="ctr"/>
            <a:r>
              <a:rPr lang="de-DE" sz="1200" b="0" i="0" dirty="0">
                <a:effectLst/>
                <a:cs typeface="Arial" panose="020B0604020202020204" pitchFamily="34" charset="0"/>
              </a:rPr>
              <a:t>As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soon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aircraft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arrives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at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gate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passengers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de-board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immediately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 </a:t>
            </a:r>
            <a:br>
              <a:rPr lang="de-DE" sz="1200" b="0" i="0" dirty="0">
                <a:effectLst/>
                <a:cs typeface="Arial" panose="020B0604020202020204" pitchFamily="34" charset="0"/>
              </a:rPr>
            </a:br>
            <a:r>
              <a:rPr lang="de-DE" sz="1200" b="0" i="0" dirty="0" err="1">
                <a:effectLst/>
                <a:cs typeface="Arial" panose="020B0604020202020204" pitchFamily="34" charset="0"/>
              </a:rPr>
              <a:t>While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ground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crew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refuels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aircraft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flight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attendants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prepare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for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next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flight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and clean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cabin</a:t>
            </a:r>
            <a: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  <a:t>. </a:t>
            </a:r>
            <a:br>
              <a:rPr lang="de-DE" sz="1200" b="0" i="0" dirty="0">
                <a:solidFill>
                  <a:srgbClr val="00B050"/>
                </a:solidFill>
                <a:effectLst/>
                <a:cs typeface="Arial" panose="020B0604020202020204" pitchFamily="34" charset="0"/>
              </a:rPr>
            </a:br>
            <a:r>
              <a:rPr lang="de-DE" sz="1200" b="0" i="0" dirty="0" err="1">
                <a:effectLst/>
                <a:cs typeface="Arial" panose="020B0604020202020204" pitchFamily="34" charset="0"/>
              </a:rPr>
              <a:t>Once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refueling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complete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,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new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passengers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board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plane, and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the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aircraft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is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ready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for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 </a:t>
            </a:r>
            <a:r>
              <a:rPr lang="de-DE" sz="1200" b="0" i="0" dirty="0" err="1">
                <a:effectLst/>
                <a:cs typeface="Arial" panose="020B0604020202020204" pitchFamily="34" charset="0"/>
              </a:rPr>
              <a:t>departure</a:t>
            </a:r>
            <a:r>
              <a:rPr lang="de-DE" sz="1200" b="0" i="0" dirty="0">
                <a:effectLst/>
                <a:cs typeface="Arial" panose="020B0604020202020204" pitchFamily="34" charset="0"/>
              </a:rPr>
              <a:t>.</a:t>
            </a:r>
            <a:endParaRPr lang="de-DE" sz="1200" dirty="0">
              <a:cs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9CFF8FA-4156-75F7-E2DE-8ECA601D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8" y="1345822"/>
            <a:ext cx="7772400" cy="2736310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6014453-6C1B-BEA9-0F2E-5DB9B6696E30}"/>
              </a:ext>
            </a:extLst>
          </p:cNvPr>
          <p:cNvGrpSpPr/>
          <p:nvPr/>
        </p:nvGrpSpPr>
        <p:grpSpPr>
          <a:xfrm>
            <a:off x="2123728" y="6005409"/>
            <a:ext cx="374760" cy="543240"/>
            <a:chOff x="452075" y="6024896"/>
            <a:chExt cx="374760" cy="54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C93629DD-4512-1109-957A-DB36BA1EAA3E}"/>
                    </a:ext>
                  </a:extLst>
                </p14:cNvPr>
                <p14:cNvContentPartPr/>
                <p14:nvPr/>
              </p14:nvContentPartPr>
              <p14:xfrm>
                <a:off x="481595" y="6024896"/>
                <a:ext cx="315720" cy="543240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C93629DD-4512-1109-957A-DB36BA1EAA3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2955" y="6015896"/>
                  <a:ext cx="33336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E3925670-F849-A70A-B5C2-600A40AC647D}"/>
                    </a:ext>
                  </a:extLst>
                </p14:cNvPr>
                <p14:cNvContentPartPr/>
                <p14:nvPr/>
              </p14:nvContentPartPr>
              <p14:xfrm>
                <a:off x="452075" y="6077096"/>
                <a:ext cx="374760" cy="39456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E3925670-F849-A70A-B5C2-600A40AC64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3075" y="6068456"/>
                  <a:ext cx="392400" cy="412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4180F5B4-95D7-DB83-B81D-BACA628B6565}"/>
              </a:ext>
            </a:extLst>
          </p:cNvPr>
          <p:cNvSpPr txBox="1"/>
          <p:nvPr/>
        </p:nvSpPr>
        <p:spPr>
          <a:xfrm>
            <a:off x="971600" y="6077096"/>
            <a:ext cx="7363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Only</a:t>
            </a:r>
            <a:r>
              <a:rPr lang="de-DE" sz="1200" dirty="0"/>
              <a:t> </a:t>
            </a:r>
            <a:r>
              <a:rPr lang="de-DE" sz="1200" dirty="0" err="1"/>
              <a:t>one</a:t>
            </a:r>
            <a:r>
              <a:rPr lang="de-DE" sz="1200" dirty="0"/>
              <a:t> out </a:t>
            </a:r>
            <a:r>
              <a:rPr lang="de-DE" sz="1200" dirty="0" err="1"/>
              <a:t>of</a:t>
            </a:r>
            <a:r>
              <a:rPr lang="de-DE" sz="1200" dirty="0"/>
              <a:t> 4 </a:t>
            </a:r>
            <a:r>
              <a:rPr lang="de-DE" sz="1200" dirty="0" err="1"/>
              <a:t>missing</a:t>
            </a:r>
            <a:r>
              <a:rPr lang="de-DE" sz="1200" dirty="0"/>
              <a:t> </a:t>
            </a:r>
            <a:r>
              <a:rPr lang="de-DE" sz="1200" dirty="0" err="1"/>
              <a:t>tasks</a:t>
            </a:r>
            <a:r>
              <a:rPr lang="de-DE" sz="1200" dirty="0"/>
              <a:t> </a:t>
            </a:r>
            <a:r>
              <a:rPr lang="de-DE" sz="1200" dirty="0" err="1"/>
              <a:t>were</a:t>
            </a:r>
            <a:r>
              <a:rPr lang="de-DE" sz="1200" dirty="0"/>
              <a:t> </a:t>
            </a:r>
            <a:r>
              <a:rPr lang="de-DE" sz="1200" dirty="0" err="1"/>
              <a:t>replaced</a:t>
            </a:r>
            <a:r>
              <a:rPr lang="de-DE" sz="1200" dirty="0"/>
              <a:t> and </a:t>
            </a:r>
            <a:r>
              <a:rPr lang="de-DE" sz="1200" dirty="0" err="1"/>
              <a:t>correcte</a:t>
            </a:r>
            <a:endParaRPr lang="de-DE" sz="120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0C72F71F-83A7-65FF-562E-425B356C238C}"/>
              </a:ext>
            </a:extLst>
          </p:cNvPr>
          <p:cNvGrpSpPr/>
          <p:nvPr/>
        </p:nvGrpSpPr>
        <p:grpSpPr>
          <a:xfrm>
            <a:off x="4239275" y="1357856"/>
            <a:ext cx="176040" cy="267840"/>
            <a:chOff x="4239275" y="1357856"/>
            <a:chExt cx="17604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54CE7A18-9E17-8E38-D1BB-1966B2AE1210}"/>
                    </a:ext>
                  </a:extLst>
                </p14:cNvPr>
                <p14:cNvContentPartPr/>
                <p14:nvPr/>
              </p14:nvContentPartPr>
              <p14:xfrm>
                <a:off x="4254395" y="1357856"/>
                <a:ext cx="160920" cy="26784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54CE7A18-9E17-8E38-D1BB-1966B2AE12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45395" y="1348856"/>
                  <a:ext cx="178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4DA11150-00F0-3849-2C68-FF8F4C014EDE}"/>
                    </a:ext>
                  </a:extLst>
                </p14:cNvPr>
                <p14:cNvContentPartPr/>
                <p14:nvPr/>
              </p14:nvContentPartPr>
              <p14:xfrm>
                <a:off x="4239275" y="1388096"/>
                <a:ext cx="147600" cy="19584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4DA11150-00F0-3849-2C68-FF8F4C014E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30275" y="1379456"/>
                  <a:ext cx="1652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75B4E14D-F403-27DD-301F-EBF8C78CE1B7}"/>
              </a:ext>
            </a:extLst>
          </p:cNvPr>
          <p:cNvGrpSpPr/>
          <p:nvPr/>
        </p:nvGrpSpPr>
        <p:grpSpPr>
          <a:xfrm>
            <a:off x="5184635" y="1365416"/>
            <a:ext cx="189000" cy="239400"/>
            <a:chOff x="5184635" y="1365416"/>
            <a:chExt cx="1890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893ADA4E-9C2A-0E46-88F0-D983F40ACFBD}"/>
                    </a:ext>
                  </a:extLst>
                </p14:cNvPr>
                <p14:cNvContentPartPr/>
                <p14:nvPr/>
              </p14:nvContentPartPr>
              <p14:xfrm>
                <a:off x="5184635" y="1403216"/>
                <a:ext cx="167040" cy="201600"/>
              </p14:xfrm>
            </p:contentPart>
          </mc:Choice>
          <mc:Fallback xmlns="">
            <p:pic>
              <p:nvPicPr>
                <p:cNvPr id="17" name="Freihand 16">
                  <a:extLst>
                    <a:ext uri="{FF2B5EF4-FFF2-40B4-BE49-F238E27FC236}">
                      <a16:creationId xmlns:a16="http://schemas.microsoft.com/office/drawing/2014/main" id="{893ADA4E-9C2A-0E46-88F0-D983F40ACF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75995" y="1394216"/>
                  <a:ext cx="184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9E86C972-37BA-5BBB-A195-39DF86DAB825}"/>
                    </a:ext>
                  </a:extLst>
                </p14:cNvPr>
                <p14:cNvContentPartPr/>
                <p14:nvPr/>
              </p14:nvContentPartPr>
              <p14:xfrm>
                <a:off x="5224595" y="1365416"/>
                <a:ext cx="149040" cy="208440"/>
              </p14:xfrm>
            </p:contentPart>
          </mc:Choice>
          <mc:Fallback xmlns=""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9E86C972-37BA-5BBB-A195-39DF86DAB8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15595" y="1356776"/>
                  <a:ext cx="16668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1777BE34-0C43-F4AC-B490-5FCF081A0458}"/>
              </a:ext>
            </a:extLst>
          </p:cNvPr>
          <p:cNvGrpSpPr/>
          <p:nvPr/>
        </p:nvGrpSpPr>
        <p:grpSpPr>
          <a:xfrm>
            <a:off x="4184915" y="3300056"/>
            <a:ext cx="154080" cy="207000"/>
            <a:chOff x="4184915" y="3300056"/>
            <a:chExt cx="15408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658606AB-BE8F-C071-FEF4-241977676FC9}"/>
                    </a:ext>
                  </a:extLst>
                </p14:cNvPr>
                <p14:cNvContentPartPr/>
                <p14:nvPr/>
              </p14:nvContentPartPr>
              <p14:xfrm>
                <a:off x="4194635" y="3336056"/>
                <a:ext cx="131040" cy="171000"/>
              </p14:xfrm>
            </p:contentPart>
          </mc:Choice>
          <mc:Fallback xmlns=""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658606AB-BE8F-C071-FEF4-241977676FC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85635" y="3327056"/>
                  <a:ext cx="148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B9C34CAC-BF16-9E15-86CB-CBAD1EEB2B1D}"/>
                    </a:ext>
                  </a:extLst>
                </p14:cNvPr>
                <p14:cNvContentPartPr/>
                <p14:nvPr/>
              </p14:nvContentPartPr>
              <p14:xfrm>
                <a:off x="4184915" y="3300056"/>
                <a:ext cx="154080" cy="185040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B9C34CAC-BF16-9E15-86CB-CBAD1EEB2B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75915" y="3291056"/>
                  <a:ext cx="17172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095F63D4-A39B-4B4B-DF8D-A934430685EC}"/>
              </a:ext>
            </a:extLst>
          </p:cNvPr>
          <p:cNvGrpSpPr/>
          <p:nvPr/>
        </p:nvGrpSpPr>
        <p:grpSpPr>
          <a:xfrm>
            <a:off x="5318195" y="3288176"/>
            <a:ext cx="296640" cy="306000"/>
            <a:chOff x="5318195" y="3288176"/>
            <a:chExt cx="29664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66E65A52-F98F-A182-3E96-755269F05710}"/>
                    </a:ext>
                  </a:extLst>
                </p14:cNvPr>
                <p14:cNvContentPartPr/>
                <p14:nvPr/>
              </p14:nvContentPartPr>
              <p14:xfrm>
                <a:off x="5318195" y="3329576"/>
                <a:ext cx="296640" cy="26460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66E65A52-F98F-A182-3E96-755269F0571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09195" y="3320936"/>
                  <a:ext cx="314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F8BF9F2A-A525-604D-C621-96A7648C1269}"/>
                    </a:ext>
                  </a:extLst>
                </p14:cNvPr>
                <p14:cNvContentPartPr/>
                <p14:nvPr/>
              </p14:nvContentPartPr>
              <p14:xfrm>
                <a:off x="5367515" y="3288176"/>
                <a:ext cx="121320" cy="252000"/>
              </p14:xfrm>
            </p:contentPart>
          </mc:Choice>
          <mc:Fallback xmlns=""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F8BF9F2A-A525-604D-C621-96A7648C126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58515" y="3279536"/>
                  <a:ext cx="138960" cy="26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5185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1968-9A41-0BB5-709C-D4C7B2FF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">
            <a:extLst>
              <a:ext uri="{FF2B5EF4-FFF2-40B4-BE49-F238E27FC236}">
                <a16:creationId xmlns:a16="http://schemas.microsoft.com/office/drawing/2014/main" id="{BF02667D-ACE9-AE27-AEEF-7E568C77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5 Summary</a:t>
            </a:r>
          </a:p>
        </p:txBody>
      </p:sp>
      <p:sp>
        <p:nvSpPr>
          <p:cNvPr id="6147" name="Inhaltsplatzhalter 2">
            <a:extLst>
              <a:ext uri="{FF2B5EF4-FFF2-40B4-BE49-F238E27FC236}">
                <a16:creationId xmlns:a16="http://schemas.microsoft.com/office/drawing/2014/main" id="{2018EAE1-3AF0-155D-029C-6B9220F5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sz="1800" b="1" dirty="0"/>
              <a:t>Key </a:t>
            </a:r>
            <a:r>
              <a:rPr lang="de-DE" sz="1800" b="1" dirty="0" err="1"/>
              <a:t>Successes</a:t>
            </a:r>
            <a:endParaRPr lang="de-DE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800" b="1" dirty="0"/>
              <a:t>Structured </a:t>
            </a:r>
            <a:r>
              <a:rPr lang="de-DE" sz="1800" b="1" dirty="0" err="1"/>
              <a:t>Context</a:t>
            </a:r>
            <a:r>
              <a:rPr lang="de-DE" sz="1800" b="1" dirty="0"/>
              <a:t>:</a:t>
            </a:r>
            <a:r>
              <a:rPr lang="de-DE" sz="1800" dirty="0"/>
              <a:t> </a:t>
            </a:r>
            <a:r>
              <a:rPr lang="de-DE" sz="1800" dirty="0" err="1"/>
              <a:t>Injecting</a:t>
            </a:r>
            <a:r>
              <a:rPr lang="de-DE" sz="1800" dirty="0"/>
              <a:t> </a:t>
            </a:r>
            <a:r>
              <a:rPr lang="de-DE" sz="1800" dirty="0" err="1"/>
              <a:t>specific</a:t>
            </a:r>
            <a:r>
              <a:rPr lang="de-DE" sz="1800" dirty="0"/>
              <a:t> </a:t>
            </a:r>
            <a:r>
              <a:rPr lang="de-DE" sz="1800" dirty="0" err="1"/>
              <a:t>error</a:t>
            </a:r>
            <a:r>
              <a:rPr lang="de-DE" sz="1800" dirty="0"/>
              <a:t> </a:t>
            </a:r>
            <a:r>
              <a:rPr lang="de-DE" sz="1800" dirty="0" err="1"/>
              <a:t>types</a:t>
            </a:r>
            <a:r>
              <a:rPr lang="de-DE" sz="1800" dirty="0"/>
              <a:t> (e.g., "</a:t>
            </a:r>
            <a:r>
              <a:rPr lang="de-DE" sz="1800" dirty="0" err="1"/>
              <a:t>missing</a:t>
            </a:r>
            <a:r>
              <a:rPr lang="de-DE" sz="1800" dirty="0"/>
              <a:t> </a:t>
            </a:r>
            <a:r>
              <a:rPr lang="de-DE" sz="1800" dirty="0" err="1"/>
              <a:t>task</a:t>
            </a:r>
            <a:r>
              <a:rPr lang="de-DE" sz="1800" dirty="0"/>
              <a:t>") </a:t>
            </a:r>
            <a:r>
              <a:rPr lang="de-DE" sz="1800" dirty="0" err="1"/>
              <a:t>significantly</a:t>
            </a:r>
            <a:r>
              <a:rPr lang="de-DE" sz="1800" dirty="0"/>
              <a:t> </a:t>
            </a:r>
            <a:r>
              <a:rPr lang="de-DE" sz="1800" dirty="0" err="1"/>
              <a:t>improves</a:t>
            </a:r>
            <a:r>
              <a:rPr lang="de-DE" sz="1800" dirty="0"/>
              <a:t> </a:t>
            </a:r>
            <a:r>
              <a:rPr lang="de-DE" sz="1800" dirty="0" err="1"/>
              <a:t>precision</a:t>
            </a:r>
            <a:r>
              <a:rPr lang="de-DE" sz="1800" dirty="0"/>
              <a:t> and </a:t>
            </a:r>
            <a:r>
              <a:rPr lang="de-DE" sz="1800" dirty="0" err="1"/>
              <a:t>generation</a:t>
            </a:r>
            <a:r>
              <a:rPr lang="de-DE" sz="1800" dirty="0"/>
              <a:t> </a:t>
            </a:r>
            <a:r>
              <a:rPr lang="de-DE" sz="1800" dirty="0" err="1"/>
              <a:t>speed</a:t>
            </a:r>
            <a:r>
              <a:rPr lang="de-DE" sz="1800" dirty="0"/>
              <a:t> </a:t>
            </a:r>
            <a:r>
              <a:rPr lang="de-DE" sz="1800" dirty="0" err="1"/>
              <a:t>compared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generic</a:t>
            </a:r>
            <a:r>
              <a:rPr lang="de-DE" sz="1800" dirty="0"/>
              <a:t> </a:t>
            </a:r>
            <a:r>
              <a:rPr lang="de-DE" sz="1800" dirty="0" err="1"/>
              <a:t>prompts</a:t>
            </a:r>
            <a:r>
              <a:rPr lang="de-DE" sz="1800" dirty="0"/>
              <a:t> in </a:t>
            </a:r>
            <a:r>
              <a:rPr lang="de-DE" sz="1800" dirty="0" err="1"/>
              <a:t>comparison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missing</a:t>
            </a:r>
            <a:r>
              <a:rPr lang="de-DE" sz="1800" dirty="0"/>
              <a:t> </a:t>
            </a:r>
            <a:r>
              <a:rPr lang="de-DE" sz="1800" dirty="0" err="1"/>
              <a:t>these</a:t>
            </a:r>
            <a:r>
              <a:rPr lang="de-DE" sz="1800" dirty="0"/>
              <a:t> (</a:t>
            </a:r>
            <a:r>
              <a:rPr lang="de-DE" sz="1800" dirty="0" err="1"/>
              <a:t>previous</a:t>
            </a:r>
            <a:r>
              <a:rPr lang="de-DE" sz="1800" dirty="0"/>
              <a:t> task-sheet)</a:t>
            </a:r>
          </a:p>
          <a:p>
            <a:pPr>
              <a:buNone/>
            </a:pPr>
            <a:r>
              <a:rPr lang="de-DE" sz="1800" b="1" dirty="0" err="1"/>
              <a:t>Current</a:t>
            </a:r>
            <a:r>
              <a:rPr lang="de-DE" sz="1800" b="1" dirty="0"/>
              <a:t> </a:t>
            </a:r>
            <a:r>
              <a:rPr lang="de-DE" sz="1800" b="1" dirty="0" err="1"/>
              <a:t>Limitations</a:t>
            </a:r>
            <a:endParaRPr lang="de-DE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800" b="1" dirty="0"/>
              <a:t>Multi-Error Handling:</a:t>
            </a:r>
            <a:r>
              <a:rPr lang="de-DE" sz="1800" dirty="0"/>
              <a:t> The </a:t>
            </a:r>
            <a:r>
              <a:rPr lang="de-DE" sz="1800" dirty="0" err="1"/>
              <a:t>pipeline</a:t>
            </a:r>
            <a:r>
              <a:rPr lang="de-DE" sz="1800" dirty="0"/>
              <a:t> </a:t>
            </a:r>
            <a:r>
              <a:rPr lang="de-DE" sz="1800" dirty="0" err="1"/>
              <a:t>struggles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correct</a:t>
            </a:r>
            <a:r>
              <a:rPr lang="de-DE" sz="1800" dirty="0"/>
              <a:t> multiple </a:t>
            </a:r>
            <a:r>
              <a:rPr lang="de-DE" sz="1800" dirty="0" err="1"/>
              <a:t>missing</a:t>
            </a:r>
            <a:r>
              <a:rPr lang="de-DE" sz="1800" dirty="0"/>
              <a:t> </a:t>
            </a:r>
            <a:r>
              <a:rPr lang="de-DE" sz="1800" dirty="0" err="1"/>
              <a:t>tasks</a:t>
            </a:r>
            <a:r>
              <a:rPr lang="de-DE" sz="1800" dirty="0"/>
              <a:t> </a:t>
            </a:r>
            <a:r>
              <a:rPr lang="de-DE" sz="1800" dirty="0" err="1"/>
              <a:t>simultaneously</a:t>
            </a:r>
            <a:r>
              <a:rPr lang="de-DE" sz="1800" dirty="0"/>
              <a:t> (</a:t>
            </a:r>
            <a:r>
              <a:rPr lang="de-DE" sz="1800" dirty="0" err="1"/>
              <a:t>edge</a:t>
            </a:r>
            <a:r>
              <a:rPr lang="de-DE" sz="1800" dirty="0"/>
              <a:t> </a:t>
            </a:r>
            <a:r>
              <a:rPr lang="de-DE" sz="1800" dirty="0" err="1"/>
              <a:t>cases</a:t>
            </a:r>
            <a:r>
              <a:rPr lang="de-DE" sz="18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800" b="1" dirty="0"/>
              <a:t>Over-</a:t>
            </a:r>
            <a:r>
              <a:rPr lang="de-DE" sz="1800" b="1" dirty="0" err="1"/>
              <a:t>Correction</a:t>
            </a:r>
            <a:r>
              <a:rPr lang="de-DE" sz="1800" b="1" dirty="0"/>
              <a:t>:</a:t>
            </a:r>
            <a:r>
              <a:rPr lang="de-DE" sz="1800" dirty="0"/>
              <a:t> Valid </a:t>
            </a:r>
            <a:r>
              <a:rPr lang="de-DE" sz="1800" dirty="0" err="1"/>
              <a:t>textual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(e.g., </a:t>
            </a:r>
            <a:r>
              <a:rPr lang="de-DE" sz="1800" dirty="0" err="1"/>
              <a:t>specific</a:t>
            </a:r>
            <a:r>
              <a:rPr lang="de-DE" sz="1800" dirty="0"/>
              <a:t> </a:t>
            </a:r>
            <a:r>
              <a:rPr lang="de-DE" sz="1800" dirty="0" err="1"/>
              <a:t>roles</a:t>
            </a:r>
            <a:r>
              <a:rPr lang="de-DE" sz="1800" dirty="0"/>
              <a:t> like “</a:t>
            </a:r>
            <a:r>
              <a:rPr lang="de-DE" sz="1800" dirty="0" err="1"/>
              <a:t>worker</a:t>
            </a:r>
            <a:r>
              <a:rPr lang="de-DE" sz="1800" dirty="0"/>
              <a:t>")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correctly</a:t>
            </a:r>
            <a:r>
              <a:rPr lang="de-DE" sz="1800" dirty="0"/>
              <a:t> </a:t>
            </a:r>
            <a:r>
              <a:rPr lang="de-DE" sz="1800" dirty="0" err="1"/>
              <a:t>removed</a:t>
            </a:r>
            <a:r>
              <a:rPr lang="de-DE" sz="1800" dirty="0"/>
              <a:t> </a:t>
            </a:r>
            <a:r>
              <a:rPr lang="de-DE" sz="1800" dirty="0" err="1"/>
              <a:t>if</a:t>
            </a:r>
            <a:r>
              <a:rPr lang="de-DE" sz="1800" dirty="0"/>
              <a:t> not </a:t>
            </a:r>
            <a:r>
              <a:rPr lang="de-DE" sz="1800" dirty="0" err="1"/>
              <a:t>explicitly</a:t>
            </a:r>
            <a:r>
              <a:rPr lang="de-DE" sz="1800" dirty="0"/>
              <a:t> </a:t>
            </a:r>
            <a:r>
              <a:rPr lang="de-DE" sz="1800" dirty="0" err="1"/>
              <a:t>modeled</a:t>
            </a:r>
            <a:r>
              <a:rPr lang="de-DE" sz="1800" dirty="0"/>
              <a:t> in BPMN. This </a:t>
            </a:r>
            <a:r>
              <a:rPr lang="de-DE" sz="1800" dirty="0" err="1"/>
              <a:t>leads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…: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800" b="1" dirty="0" err="1"/>
              <a:t>Steerability</a:t>
            </a:r>
            <a:r>
              <a:rPr lang="de-DE" sz="1800" b="1" dirty="0"/>
              <a:t>:</a:t>
            </a:r>
            <a:r>
              <a:rPr lang="de-DE" sz="1800" dirty="0"/>
              <a:t> </a:t>
            </a:r>
            <a:r>
              <a:rPr lang="de-DE" sz="1800" dirty="0" err="1"/>
              <a:t>Despite</a:t>
            </a:r>
            <a:r>
              <a:rPr lang="de-DE" sz="1800" dirty="0"/>
              <a:t> </a:t>
            </a:r>
            <a:r>
              <a:rPr lang="de-DE" sz="1800" dirty="0" err="1"/>
              <a:t>deterministic</a:t>
            </a:r>
            <a:r>
              <a:rPr lang="de-DE" sz="1800" dirty="0"/>
              <a:t> </a:t>
            </a:r>
            <a:r>
              <a:rPr lang="de-DE" sz="1800" dirty="0" err="1"/>
              <a:t>settings</a:t>
            </a:r>
            <a:r>
              <a:rPr lang="de-DE" sz="1800" dirty="0"/>
              <a:t> (</a:t>
            </a:r>
            <a:r>
              <a:rPr lang="de-DE" sz="1800" dirty="0" err="1"/>
              <a:t>Temp</a:t>
            </a:r>
            <a:r>
              <a:rPr lang="de-DE" sz="1800" dirty="0"/>
              <a:t> 0.0),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model</a:t>
            </a:r>
            <a:r>
              <a:rPr lang="de-DE" sz="1800" dirty="0"/>
              <a:t> </a:t>
            </a:r>
            <a:r>
              <a:rPr lang="de-DE" sz="1800" dirty="0" err="1"/>
              <a:t>occasionally</a:t>
            </a:r>
            <a:r>
              <a:rPr lang="de-DE" sz="1800" dirty="0"/>
              <a:t> </a:t>
            </a:r>
            <a:r>
              <a:rPr lang="de-DE" sz="1800" dirty="0" err="1"/>
              <a:t>ignores</a:t>
            </a:r>
            <a:r>
              <a:rPr lang="de-DE" sz="1800" dirty="0"/>
              <a:t> </a:t>
            </a:r>
            <a:r>
              <a:rPr lang="de-DE" sz="1800" dirty="0" err="1"/>
              <a:t>strict</a:t>
            </a:r>
            <a:r>
              <a:rPr lang="de-DE" sz="1800" dirty="0"/>
              <a:t> </a:t>
            </a:r>
            <a:r>
              <a:rPr lang="de-DE" sz="1800" dirty="0" err="1"/>
              <a:t>constraints</a:t>
            </a:r>
            <a:r>
              <a:rPr lang="de-DE" sz="1800" dirty="0"/>
              <a:t> and alters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writing</a:t>
            </a:r>
            <a:r>
              <a:rPr lang="de-DE" sz="1800" dirty="0"/>
              <a:t> style.</a:t>
            </a:r>
          </a:p>
        </p:txBody>
      </p:sp>
      <p:sp>
        <p:nvSpPr>
          <p:cNvPr id="6148" name="Fußzeilenplatzhalter 3">
            <a:extLst>
              <a:ext uri="{FF2B5EF4-FFF2-40B4-BE49-F238E27FC236}">
                <a16:creationId xmlns:a16="http://schemas.microsoft.com/office/drawing/2014/main" id="{3425C482-88C7-EF69-FF3D-725BAB269E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FDA949-4A5E-414F-9531-F551BE1D8AF8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A047C4D3-4B70-2840-8E1D-4696901EAD26}" type="slidenum">
              <a:rPr lang="de-DE" altLang="de-DE"/>
              <a:pPr eaLnBrk="1" hangingPunct="1"/>
              <a:t>15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32059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9FFE-A2C9-61E4-9A8C-140BCB74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F6D4D4C-DE87-C8FB-3EF5-167C7187A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Task 3 - LLM </a:t>
            </a:r>
            <a:r>
              <a:rPr lang="de-DE" dirty="0" err="1"/>
              <a:t>as</a:t>
            </a:r>
            <a:r>
              <a:rPr lang="de-DE" dirty="0"/>
              <a:t> a Judge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60AA7E-82BE-42B5-8667-39DFF28C3B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fld id="{B95C455D-8255-4B0D-BAF0-E320D183C8F1}" type="datetime1">
              <a:rPr lang="de-DE" smtClean="0"/>
              <a:pPr>
                <a:defRPr/>
              </a:pPr>
              <a:t>11.01.2026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156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95FC-4949-B4BB-DBD9-B6996683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894E073C-58A3-7C38-F4B0-B3A9A41F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 Approach</a:t>
            </a:r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776F1E5D-6430-84A0-3F8B-3FDFEE6056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17</a:t>
            </a:fld>
            <a:endParaRPr lang="de-DE" alt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65146E5-9ABE-A3C9-2D36-11545953D530}"/>
              </a:ext>
            </a:extLst>
          </p:cNvPr>
          <p:cNvSpPr txBox="1"/>
          <p:nvPr/>
        </p:nvSpPr>
        <p:spPr>
          <a:xfrm>
            <a:off x="179512" y="1628800"/>
            <a:ext cx="8532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de-DE" dirty="0" err="1"/>
              <a:t>Let</a:t>
            </a:r>
            <a:r>
              <a:rPr lang="de-DE" dirty="0"/>
              <a:t> LLM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readability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score</a:t>
            </a:r>
          </a:p>
          <a:p>
            <a:pPr marL="342900" indent="-342900">
              <a:buFont typeface="+mj-lt"/>
              <a:buAutoNum type="alphaLcPeriod"/>
            </a:pPr>
            <a:r>
              <a:rPr lang="de-DE" dirty="0"/>
              <a:t>Run 3 different BPMN </a:t>
            </a:r>
            <a:r>
              <a:rPr lang="de-DE" dirty="0" err="1"/>
              <a:t>models</a:t>
            </a:r>
            <a:r>
              <a:rPr lang="de-DE" dirty="0"/>
              <a:t> &amp;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myself</a:t>
            </a:r>
            <a:r>
              <a:rPr lang="de-DE" dirty="0"/>
              <a:t> (Ground Truth)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generated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compare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scores</a:t>
            </a:r>
            <a:endParaRPr lang="de-DE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lphaLcPeriod"/>
            </a:pPr>
            <a:r>
              <a:rPr lang="de-DE" dirty="0"/>
              <a:t>Other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to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texts</a:t>
            </a:r>
            <a:r>
              <a:rPr lang="de-DE" dirty="0"/>
              <a:t> (apart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precision</a:t>
            </a:r>
            <a:r>
              <a:rPr lang="de-DE" dirty="0"/>
              <a:t>/</a:t>
            </a:r>
            <a:r>
              <a:rPr lang="de-DE" dirty="0" err="1"/>
              <a:t>recall</a:t>
            </a:r>
            <a:r>
              <a:rPr lang="de-DE" dirty="0"/>
              <a:t> and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3a)</a:t>
            </a:r>
          </a:p>
        </p:txBody>
      </p:sp>
    </p:spTree>
    <p:extLst>
      <p:ext uri="{BB962C8B-B14F-4D97-AF65-F5344CB8AC3E}">
        <p14:creationId xmlns:p14="http://schemas.microsoft.com/office/powerpoint/2010/main" val="2979676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FEB2-551F-CF72-704A-D4D1C829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7F9C570D-4828-DBE4-C2EE-2AC69433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3a) </a:t>
            </a:r>
            <a:r>
              <a:rPr lang="de-DE" dirty="0" err="1"/>
              <a:t>Let</a:t>
            </a:r>
            <a:r>
              <a:rPr lang="de-DE" dirty="0"/>
              <a:t> LLM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readability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score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67D2FF5E-C0B3-60AB-F77D-CD332C113A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18</a:t>
            </a:fld>
            <a:endParaRPr lang="de-DE" alt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6451C2A-C71A-F874-189A-AF4743B13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241" y="1556792"/>
            <a:ext cx="6601746" cy="300079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018F60A-446C-63C2-F493-750E3A435D7F}"/>
              </a:ext>
            </a:extLst>
          </p:cNvPr>
          <p:cNvSpPr txBox="1"/>
          <p:nvPr/>
        </p:nvSpPr>
        <p:spPr>
          <a:xfrm>
            <a:off x="611560" y="155679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Prompt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159A398-5653-3D93-3DAB-ED864901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787228"/>
            <a:ext cx="7421011" cy="121937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5025F08-E9C6-29D9-D8DB-2AA7AFCE94D0}"/>
              </a:ext>
            </a:extLst>
          </p:cNvPr>
          <p:cNvSpPr txBox="1"/>
          <p:nvPr/>
        </p:nvSpPr>
        <p:spPr>
          <a:xfrm>
            <a:off x="391349" y="464674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22125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94E6E-B9AB-55BB-6FB5-0221AB28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96C4F7F2-B49C-2869-9104-B1FE0042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3b) </a:t>
            </a:r>
            <a:r>
              <a:rPr lang="de-DE" dirty="0"/>
              <a:t>Run 3 different BPMN </a:t>
            </a:r>
            <a:r>
              <a:rPr lang="de-DE" dirty="0" err="1"/>
              <a:t>models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2C6871D5-9D69-1510-1C9B-8A36894665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19</a:t>
            </a:fld>
            <a:endParaRPr lang="de-DE" alt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93CAA6D-B1E2-29B8-F3FA-20BD71721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132856"/>
            <a:ext cx="7177774" cy="35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51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765A-5200-EFAB-83DA-3755CD67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F21BF868-3F74-1668-4437-64D8D44B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3c)* </a:t>
            </a:r>
            <a:r>
              <a:rPr lang="de-DE" dirty="0"/>
              <a:t>Other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(1/3)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C0F05D23-DEE6-F4DA-B6CC-48148C2EF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20</a:t>
            </a:fld>
            <a:endParaRPr lang="de-DE" alt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F4BD589-841C-53E6-2DD7-78E5B5B9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37" y="1814287"/>
            <a:ext cx="717332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59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63CA-2097-544B-7DC5-A2A56529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18CA1C61-0718-8438-1416-C19CE6D5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3c)* </a:t>
            </a:r>
            <a:r>
              <a:rPr lang="de-DE" dirty="0"/>
              <a:t>Other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(2/3)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B3D81E11-3BA4-65A6-6E30-B2B83ACA9F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21</a:t>
            </a:fld>
            <a:endParaRPr lang="de-DE" alt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D5E9E39-B26F-F3E4-4D3F-792D0E5F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88840"/>
            <a:ext cx="7620796" cy="34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08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2652-60D8-05E1-5E8B-A8BFBC9D3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>
            <a:extLst>
              <a:ext uri="{FF2B5EF4-FFF2-40B4-BE49-F238E27FC236}">
                <a16:creationId xmlns:a16="http://schemas.microsoft.com/office/drawing/2014/main" id="{980AC546-86D6-1484-096B-00224CFF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3c)* </a:t>
            </a:r>
            <a:r>
              <a:rPr lang="de-DE" dirty="0"/>
              <a:t>Other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(3/3)</a:t>
            </a:r>
            <a:endParaRPr lang="de-DE" altLang="de-DE" dirty="0"/>
          </a:p>
        </p:txBody>
      </p:sp>
      <p:sp>
        <p:nvSpPr>
          <p:cNvPr id="5124" name="Fußzeilenplatzhalter 3">
            <a:extLst>
              <a:ext uri="{FF2B5EF4-FFF2-40B4-BE49-F238E27FC236}">
                <a16:creationId xmlns:a16="http://schemas.microsoft.com/office/drawing/2014/main" id="{6A96133F-632B-E871-CFB6-7714A074C0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2310B7-F57A-854E-BC3A-54236A9E722B}" type="datetime1">
              <a:rPr lang="de-DE" altLang="de-DE"/>
              <a:pPr eaLnBrk="1" hangingPunct="1"/>
              <a:t>11.01.2026</a:t>
            </a:fld>
            <a:r>
              <a:rPr lang="de-DE" altLang="de-DE"/>
              <a:t> | </a:t>
            </a:r>
            <a:fld id="{88DF85A2-9256-154B-BE29-66062C5EB456}" type="slidenum">
              <a:rPr lang="de-DE" altLang="de-DE"/>
              <a:pPr eaLnBrk="1" hangingPunct="1"/>
              <a:t>22</a:t>
            </a:fld>
            <a:endParaRPr lang="de-DE" alt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B22059D-B9D3-AFDE-F46F-3C65B1587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20" y="1809524"/>
            <a:ext cx="7463331" cy="334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56902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svorlage Neu TUD-IfS-FH">
  <a:themeElements>
    <a:clrScheme name="Präsentationsvorlage Neu TUD-IfS-FH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äsentationsvorlage Neu TUD-IfS-F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äsentationsvorlage Neu TUD-IfS-F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 Neu TUD-IfS-FH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 Neu TUD-IfS-FH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 Neu TUD-IfS-FH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 Neu TUD-IfS-FH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 Neu TUD-IfS-FH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 Neu TUD-IfS-FH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 Neu TUD-IfS-FH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 Neu TUD-IfS-FH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 Neu TUD-IfS-FH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 Neu TUD-IfS-FH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 Neu TUD-IfS-FH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TUD IfS</Template>
  <TotalTime>0</TotalTime>
  <Words>926</Words>
  <Application>Microsoft Office PowerPoint</Application>
  <PresentationFormat>Bildschirmpräsentation (4:3)</PresentationFormat>
  <Paragraphs>122</Paragraphs>
  <Slides>22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5" baseType="lpstr">
      <vt:lpstr>Arial</vt:lpstr>
      <vt:lpstr>Wingdings</vt:lpstr>
      <vt:lpstr>Präsentationsvorlage Neu TUD-IfS-FH</vt:lpstr>
      <vt:lpstr>PowerPoint-Präsentation</vt:lpstr>
      <vt:lpstr>PowerPoint-Präsentation</vt:lpstr>
      <vt:lpstr>1 Approach</vt:lpstr>
      <vt:lpstr>1a) Automated extraction of Tasks, Events &amp; Gateways</vt:lpstr>
      <vt:lpstr>1b) &amp; 1c) Choosing Method: Structured Outputs</vt:lpstr>
      <vt:lpstr>1d) Run for 3 different descriptive texts of BMPN models </vt:lpstr>
      <vt:lpstr>PowerPoint-Präsentation</vt:lpstr>
      <vt:lpstr>1 Structure: Retrieval Augmented Generation</vt:lpstr>
      <vt:lpstr>1 Structure: This RAG Structure</vt:lpstr>
      <vt:lpstr>2 Code</vt:lpstr>
      <vt:lpstr>3 Result (1/3): Missing Task</vt:lpstr>
      <vt:lpstr>3 Result (2/3): Missing Gateway</vt:lpstr>
      <vt:lpstr>3 Result (3/3): Hallucinated Task</vt:lpstr>
      <vt:lpstr>4 Critics: Only small BPMN Models – Add On</vt:lpstr>
      <vt:lpstr>5 Summary</vt:lpstr>
      <vt:lpstr>PowerPoint-Präsentation</vt:lpstr>
      <vt:lpstr>3 Approach</vt:lpstr>
      <vt:lpstr>3a) Let LLM evaluate readability with score</vt:lpstr>
      <vt:lpstr>3b) Run 3 different BPMN models</vt:lpstr>
      <vt:lpstr>3c)* Other useful metric (1/3)</vt:lpstr>
      <vt:lpstr>3c)* Other useful metric (2/3)</vt:lpstr>
      <vt:lpstr>3c)* Other useful metric (3/3)</vt:lpstr>
    </vt:vector>
  </TitlesOfParts>
  <Company>Technische Universität Darmstadt - IfS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Sören Daniel Baumgärtner</dc:creator>
  <cp:lastModifiedBy>Lucas Janssen</cp:lastModifiedBy>
  <cp:revision>104</cp:revision>
  <cp:lastPrinted>1601-01-01T00:00:00Z</cp:lastPrinted>
  <dcterms:created xsi:type="dcterms:W3CDTF">2005-11-18T08:34:56Z</dcterms:created>
  <dcterms:modified xsi:type="dcterms:W3CDTF">2026-01-11T21:15:20Z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